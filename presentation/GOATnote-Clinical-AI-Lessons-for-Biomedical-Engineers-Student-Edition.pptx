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bin" ContentType="image/webp"/>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55a92c851c3429d" /><Relationship Type="http://schemas.openxmlformats.org/officeDocument/2006/relationships/extended-properties" Target="/docProps/app.xml" Id="R7b50dc26388740b5" /><Relationship Type="http://schemas.openxmlformats.org/officeDocument/2006/relationships/officeDocument" Target="/ppt/presentation.xml" Id="R9c7f3fd2489f47e3" /></Relationships>
</file>

<file path=ppt/presentation.xml><?xml version="1.0" encoding="utf-8"?>
<p:presentation xmlns:p="http://schemas.openxmlformats.org/presentationml/2006/main">
  <p:sldMasterIdLst>
    <p:sldMasterId xmlns:r="http://schemas.openxmlformats.org/officeDocument/2006/relationships" id="2147483648" r:id="Rfa5e3f4f92c543ef"/>
  </p:sldMasterIdLst>
  <p:notesMasterIdLst>
    <p:notesMasterId xmlns:r="http://schemas.openxmlformats.org/officeDocument/2006/relationships" r:id="Rc5e26e4a316d4fcb"/>
  </p:notesMasterIdLst>
  <p:sldIdLst>
    <p:sldId xmlns:r="http://schemas.openxmlformats.org/officeDocument/2006/relationships" id="256" r:id="Ref399f94524c4d75"/>
    <p:sldId xmlns:r="http://schemas.openxmlformats.org/officeDocument/2006/relationships" id="257" r:id="Rdf6b316289cb4c7e"/>
    <p:sldId xmlns:r="http://schemas.openxmlformats.org/officeDocument/2006/relationships" id="258" r:id="R260f9b87f74b447c"/>
    <p:sldId xmlns:r="http://schemas.openxmlformats.org/officeDocument/2006/relationships" id="259" r:id="R927ca2bfd7f84a7f"/>
    <p:sldId xmlns:r="http://schemas.openxmlformats.org/officeDocument/2006/relationships" id="260" r:id="Ra5af20ca24794f40"/>
    <p:sldId xmlns:r="http://schemas.openxmlformats.org/officeDocument/2006/relationships" id="261" r:id="R3a9559c6f90e49d7"/>
    <p:sldId xmlns:r="http://schemas.openxmlformats.org/officeDocument/2006/relationships" id="262" r:id="Ra1eefa3a925c4486"/>
    <p:sldId xmlns:r="http://schemas.openxmlformats.org/officeDocument/2006/relationships" id="263" r:id="Ra260a76ff21a43ef"/>
    <p:sldId xmlns:r="http://schemas.openxmlformats.org/officeDocument/2006/relationships" id="264" r:id="Rb76d4e7ac4da4fce"/>
    <p:sldId xmlns:r="http://schemas.openxmlformats.org/officeDocument/2006/relationships" id="265" r:id="R55a74e173f964563"/>
    <p:sldId xmlns:r="http://schemas.openxmlformats.org/officeDocument/2006/relationships" id="266" r:id="R93f03e8ac25643f6"/>
    <p:sldId xmlns:r="http://schemas.openxmlformats.org/officeDocument/2006/relationships" id="267" r:id="Rb325c7d560fa4852"/>
    <p:sldId xmlns:r="http://schemas.openxmlformats.org/officeDocument/2006/relationships" id="268" r:id="Rc1dba7be0e62434c"/>
    <p:sldId xmlns:r="http://schemas.openxmlformats.org/officeDocument/2006/relationships" id="269" r:id="R3566fbf5fe0e47ee"/>
    <p:sldId xmlns:r="http://schemas.openxmlformats.org/officeDocument/2006/relationships" id="270" r:id="Re1af93c4d9604444"/>
    <p:sldId xmlns:r="http://schemas.openxmlformats.org/officeDocument/2006/relationships" id="271" r:id="R7cd3a683a0da4ed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8e479de7f5754060" /><Relationship Type="http://schemas.openxmlformats.org/officeDocument/2006/relationships/slideMaster" Target="/ppt/slideMasters/slideMaster1.xml" Id="Rfa5e3f4f92c543ef" /><Relationship Type="http://schemas.openxmlformats.org/officeDocument/2006/relationships/notesMaster" Target="/ppt/notesMasters/notesMaster1.xml" Id="Rc5e26e4a316d4fcb" /><Relationship Type="http://schemas.openxmlformats.org/officeDocument/2006/relationships/presProps" Target="/ppt/presProps.xml" Id="Rd121f70b1dc84e3d" /><Relationship Type="http://schemas.openxmlformats.org/officeDocument/2006/relationships/viewProps" Target="/ppt/viewProps.xml" Id="R9118556c8b1a4815" /><Relationship Type="http://schemas.openxmlformats.org/officeDocument/2006/relationships/tableStyles" Target="/ppt/tableStyles.xml" Id="R56a1dd736be44042" /><Relationship Type="http://schemas.openxmlformats.org/officeDocument/2006/relationships/slide" Target="/ppt/slides/slide1.xml" Id="Ref399f94524c4d75" /><Relationship Type="http://schemas.openxmlformats.org/officeDocument/2006/relationships/slide" Target="/ppt/slides/slide2.xml" Id="Rdf6b316289cb4c7e" /><Relationship Type="http://schemas.openxmlformats.org/officeDocument/2006/relationships/slide" Target="/ppt/slides/slide3.xml" Id="R260f9b87f74b447c" /><Relationship Type="http://schemas.openxmlformats.org/officeDocument/2006/relationships/slide" Target="/ppt/slides/slide4.xml" Id="R927ca2bfd7f84a7f" /><Relationship Type="http://schemas.openxmlformats.org/officeDocument/2006/relationships/slide" Target="/ppt/slides/slide5.xml" Id="Ra5af20ca24794f40" /><Relationship Type="http://schemas.openxmlformats.org/officeDocument/2006/relationships/slide" Target="/ppt/slides/slide6.xml" Id="R3a9559c6f90e49d7" /><Relationship Type="http://schemas.openxmlformats.org/officeDocument/2006/relationships/slide" Target="/ppt/slides/slide7.xml" Id="Ra1eefa3a925c4486" /><Relationship Type="http://schemas.openxmlformats.org/officeDocument/2006/relationships/slide" Target="/ppt/slides/slide8.xml" Id="Ra260a76ff21a43ef" /><Relationship Type="http://schemas.openxmlformats.org/officeDocument/2006/relationships/slide" Target="/ppt/slides/slide9.xml" Id="Rb76d4e7ac4da4fce" /><Relationship Type="http://schemas.openxmlformats.org/officeDocument/2006/relationships/slide" Target="/ppt/slides/slide10.xml" Id="R55a74e173f964563" /><Relationship Type="http://schemas.openxmlformats.org/officeDocument/2006/relationships/slide" Target="/ppt/slides/slide11.xml" Id="R93f03e8ac25643f6" /><Relationship Type="http://schemas.openxmlformats.org/officeDocument/2006/relationships/slide" Target="/ppt/slides/slide12.xml" Id="Rb325c7d560fa4852" /><Relationship Type="http://schemas.openxmlformats.org/officeDocument/2006/relationships/slide" Target="/ppt/slides/slide13.xml" Id="Rc1dba7be0e62434c" /><Relationship Type="http://schemas.openxmlformats.org/officeDocument/2006/relationships/slide" Target="/ppt/slides/slide14.xml" Id="R3566fbf5fe0e47ee" /><Relationship Type="http://schemas.openxmlformats.org/officeDocument/2006/relationships/slide" Target="/ppt/slides/slide15.xml" Id="Re1af93c4d9604444" /><Relationship Type="http://schemas.openxmlformats.org/officeDocument/2006/relationships/slide" Target="/ppt/slides/slide16.xml" Id="R7cd3a683a0da4ed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c5620578fab480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54ff0c7aab44d12" /><Relationship Type="http://schemas.openxmlformats.org/officeDocument/2006/relationships/notesMaster" Target="/ppt/notesMasters/notesMaster1.xml" Id="Rcb153f54049a4b9c" /></Relationships>
</file>

<file path=ppt/notesSlides/_rels/notesSlide2.xml.rels>&#65279;<?xml version="1.0" encoding="utf-8"?><Relationships xmlns="http://schemas.openxmlformats.org/package/2006/relationships"><Relationship Type="http://schemas.openxmlformats.org/officeDocument/2006/relationships/slide" Target="/ppt/slides/slide2.xml" Id="R275aa24df8f243fa" /><Relationship Type="http://schemas.openxmlformats.org/officeDocument/2006/relationships/notesMaster" Target="/ppt/notesMasters/notesMaster1.xml" Id="R717366d9e0b64866" /></Relationships>
</file>

<file path=ppt/notesSlides/_rels/notesSlide3.xml.rels>&#65279;<?xml version="1.0" encoding="utf-8"?><Relationships xmlns="http://schemas.openxmlformats.org/package/2006/relationships"><Relationship Type="http://schemas.openxmlformats.org/officeDocument/2006/relationships/slide" Target="/ppt/slides/slide3.xml" Id="R8a0c7c36678a4f5b" /><Relationship Type="http://schemas.openxmlformats.org/officeDocument/2006/relationships/notesMaster" Target="/ppt/notesMasters/notesMaster1.xml" Id="R6877ab4dda3f41d8" /></Relationships>
</file>

<file path=ppt/notesSlides/_rels/notesSlide4.xml.rels>&#65279;<?xml version="1.0" encoding="utf-8"?><Relationships xmlns="http://schemas.openxmlformats.org/package/2006/relationships"><Relationship Type="http://schemas.openxmlformats.org/officeDocument/2006/relationships/slide" Target="/ppt/slides/slide4.xml" Id="R76c7adddf00b495f" /><Relationship Type="http://schemas.openxmlformats.org/officeDocument/2006/relationships/notesMaster" Target="/ppt/notesMasters/notesMaster1.xml" Id="Rd4c11fa37e9a4ab9" /></Relationships>
</file>

<file path=ppt/notesSlides/_rels/notesSlide5.xml.rels>&#65279;<?xml version="1.0" encoding="utf-8"?><Relationships xmlns="http://schemas.openxmlformats.org/package/2006/relationships"><Relationship Type="http://schemas.openxmlformats.org/officeDocument/2006/relationships/slide" Target="/ppt/slides/slide5.xml" Id="Rb04e8d34e6974b52" /><Relationship Type="http://schemas.openxmlformats.org/officeDocument/2006/relationships/notesMaster" Target="/ppt/notesMasters/notesMaster1.xml" Id="R0a65e3a62be043f4" /></Relationships>
</file>

<file path=ppt/notesSlides/_rels/notesSlide6.xml.rels>&#65279;<?xml version="1.0" encoding="utf-8"?><Relationships xmlns="http://schemas.openxmlformats.org/package/2006/relationships"><Relationship Type="http://schemas.openxmlformats.org/officeDocument/2006/relationships/slide" Target="/ppt/slides/slide6.xml" Id="Re66ee8cadd374e8d" /><Relationship Type="http://schemas.openxmlformats.org/officeDocument/2006/relationships/notesMaster" Target="/ppt/notesMasters/notesMaster1.xml" Id="R14a08b20f3d547b2" /></Relationships>
</file>

<file path=ppt/notesSlides/_rels/notesSlide7.xml.rels>&#65279;<?xml version="1.0" encoding="utf-8"?><Relationships xmlns="http://schemas.openxmlformats.org/package/2006/relationships"><Relationship Type="http://schemas.openxmlformats.org/officeDocument/2006/relationships/slide" Target="/ppt/slides/slide7.xml" Id="R8d3ce667114b48c1" /><Relationship Type="http://schemas.openxmlformats.org/officeDocument/2006/relationships/notesMaster" Target="/ppt/notesMasters/notesMaster1.xml" Id="Rbb3c1df14a344062" /></Relationships>
</file>

<file path=ppt/notesSlides/_rels/notesSlide8.xml.rels>&#65279;<?xml version="1.0" encoding="utf-8"?><Relationships xmlns="http://schemas.openxmlformats.org/package/2006/relationships"><Relationship Type="http://schemas.openxmlformats.org/officeDocument/2006/relationships/slide" Target="/ppt/slides/slide8.xml" Id="R868f47b249964929" /><Relationship Type="http://schemas.openxmlformats.org/officeDocument/2006/relationships/notesMaster" Target="/ppt/notesMasters/notesMaster1.xml" Id="R29ab472c1d6b49e3" /></Relationships>
</file>

<file path=ppt/notesSlides/_rels/notesSlide9.xml.rels>&#65279;<?xml version="1.0" encoding="utf-8"?><Relationships xmlns="http://schemas.openxmlformats.org/package/2006/relationships"><Relationship Type="http://schemas.openxmlformats.org/officeDocument/2006/relationships/slide" Target="/ppt/slides/slide9.xml" Id="R9a558811fb804e9a" /><Relationship Type="http://schemas.openxmlformats.org/officeDocument/2006/relationships/notesMaster" Target="/ppt/notesMasters/notesMaster1.xml" Id="Rd5b43e0759bb46c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a42c23e363041ca" /><Relationship Type="http://schemas.openxmlformats.org/officeDocument/2006/relationships/notesMaster" Target="/ppt/notesMasters/notesMaster1.xml" Id="R04e2d0b16e3c43d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aa18c4abaf948b9" /><Relationship Type="http://schemas.openxmlformats.org/officeDocument/2006/relationships/notesMaster" Target="/ppt/notesMasters/notesMaster1.xml" Id="Re198b7296b324f8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c360d82e78441f0" /><Relationship Type="http://schemas.openxmlformats.org/officeDocument/2006/relationships/notesMaster" Target="/ppt/notesMasters/notesMaster1.xml" Id="Re6bdabc8534347f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6c602c49edf48dc" /><Relationship Type="http://schemas.openxmlformats.org/officeDocument/2006/relationships/notesMaster" Target="/ppt/notesMasters/notesMaster1.xml" Id="R6250fb8dcb1c433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c545f85c60a4c08" /><Relationship Type="http://schemas.openxmlformats.org/officeDocument/2006/relationships/notesMaster" Target="/ppt/notesMasters/notesMaster1.xml" Id="R4747cbc9eaee468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87bb1692b144a3d" /><Relationship Type="http://schemas.openxmlformats.org/officeDocument/2006/relationships/notesMaster" Target="/ppt/notesMasters/notesMaster1.xml" Id="R7fc8c23cbf524be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6774d13495e4eea" /><Relationship Type="http://schemas.openxmlformats.org/officeDocument/2006/relationships/notesMaster" Target="/ppt/notesMasters/notesMaster1.xml" Id="R4e52bceec1b943a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Brandon Dent, MD. Open with the connection between clinical judgment and engineering evidence. The session has two aims: a repeatable way to test a biomedical AI system, and a defensible example of the student's own work. Introduce the professional role exactly as supplied: Enterprise Systems Architect &amp; Technical Advisor to Scaling Up EMDR. This is personal educational work and does not imply employer or university endorsement. The date and course numbers come from the supplied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Give students 90 seconds in pairs. Ask for an ideal outcome and an oversized gain: what could become possible after today that did not feel possible before? Invite both technical and career answers, including no-code contributions. Return to their answers at the end. Proposed outcomes informed by public biomedical engineering teaching descriptions covering experimental design, verification, critical appraisal, communication and career preparation. Related public course descriptions, not a verified BIOM 7109/8109 syllabus: https://digitalcommons.memphis.edu/biomedical-engineering-syllabi/13/ ; https://digitalcommons.memphis.edu/biomedical-engineering-syllabi/54/ ; https://bmegg.ucdavis.edu/courses ; https://catalog.olemiss.edu/engineering/biomedical-engineering/bme-600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biography briefly to establish perspective, not authority over every discipline. The supplied deck describes emergency medicine training and practice, followed by building GOATnote. The current title is user-supplied. In enterprise work the important questions are who owns a requirement, who may access the data, how a change is verified and who acts when the system cannot complete a task. Do not describe private work or claim a deployed system or measured outcome. The photograph is retained from the supplied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presenter's supplied lessons. Treat them as working principles rather than universal laws. Volume means deliberate repetitions with feedback, not endless repetition of an unexamined process. Trust but verify applies to the input, grader and claimed result. Slow is smooth means taking time for a defined sequence before speeding up. The career maxim is a quotation supplied by the presenter, used as an aspiration rather than a guarantee that skill removes selection noise. No other individual's name is needed in this deck.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hypothetical arithmetic illustration, not a measured hospital or model result. For 100,000 decisions, expected errors are volume multiplied by the error rate. Errors are not interchangeable with harmed patients. Case mix, severity, repeated decisions per patient and dependence matter. Ask which kinds of error would dominate a risk analysis. Do not turn a rubric score, satisfaction rating or service-uptime statistic into a clinical failure probability.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Model is the generator. The system includes instructions, tools, parsing, user interface and operational behavior. A benchmark is one measurement design, not a universal certificate. A judge may be software, a model or a clinician. All need scrutiny. Repeated trials reveal variation that a single successful demo hides. If illustrating pass^k, state the assumptions: with independent trials and constant 0.8 success probability, five successes have probability 0.8^5=0.32768. Correlated errors violate that simple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synthetic patient message, then the saved response excerpt. Ask students to mark every asserted fact and locate its source. The response calls deformity and numbness absent although the message does not establish those negatives. The single-physician v3 reference retains clinician review. This is not an asserted positive clinical decision rule or confirmed fracture. The photographs are separately supplied discussion material, not model inputs or the synthetic patient's outcome. Source: https://github.com/bGOATnote/goatnote-disposition/blob/codex/goatnote-classroom-rebrand/data/classroom-review.json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HealthBench Professional contains 525 clinician tasks and physician-reviewed rubrics. Its difficult-case enrichment and length adjustment mean its score is not clinical accuracy or a routine patient error rate. OpenAI's current Astra system card gives 64.7 length-adjusted and 68.2 unadjusted, with a September 22 correction for a previous evaluation misconfiguration. The older launch page reports a different Astra value and reports Claude Fable 5.1 with Opus 5 fallback for refusals. Do not combine those values into a new head-to-head ranking. Claude Fable is the configured model in our local study, not a claim about Anthropic's latest release. Sources checked September 28, 2026: https://cdn.openai.com/dd128428-0184-4e25-b155-3a7686c7d744/HealthBench-Professional.pdf ; https://deploymentsafety.openai.com/gpt-6-astra ; https://openai.com/index/gpt-6-astra/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descriptive observations from 50 familiar synthetic development messages and one physician's post-output reference v3. Fable low effort has 48/50 agreement, 2 missed clinician-action cases among 43 referenced positives and zero urgent-action misses among 25. Astra xhigh and max each have 47/50, the same three clinician-action misses and zero urgent-action misses. MedGemma Q5_K_M has 46/50, zero clinician-action misses but one urgent-action miss. These are distinct endpoints, not measured patient harm or a statistically established ranking. Nemotron baseline repetitions are each 40/50; the original deck's 43/50 described a different intervention and is not used here. Configuration, runtime and dates differ. Source: https://github.com/bGOATnote/goatnote-disposition/blob/codex/goatnote-classroom-rebrand/data/classroom-review.json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changed reference changes the measurement, even if every model response is unchanged. The saved Fable result became 48/50 under revised physician v3; its earlier 44/49 result used another reference and denominator. Do not put those numbers on a model-improvement chart. Identical-request fresh repetitions returned 45/50 and 46/50. Keep the original evidence and report the reference version, denominator and repeated outcomes. A physician reference is also fallible. Astra's September 22 benchmark correction offers a separate public example of evaluation configuration affecting reported results. Sources: https://github.com/bGOATnote/goatnote-disposition/blob/codex/goatnote-classroom-rebrand/docs/RESEARCH_PROVENANCE.md ; https://deploymentsafety.openai.com/gpt-6-astra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historical synthetic example from the supplied deck, also shown in the public ScribeGOAT2 evaluation documentation. It concerns a 3-week-old infant with fever. The source labels the speaker as a model; this is not a claim about the newest Astra or Claude releases. The engineering question is whether a safety-relevant recommendation remains appropriately firm when ordinary pressure follows. A saved transcript cannot establish an event rate. Ask students to design paired tests: respectful persistence and legitimate new information that should change a decision. Do not run new provider calls merely to reproduce the presentation. Source: https://github.com/GOATnote-Inc/scribegoat2/blob/main/bloom_medical_eval/README.md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classroom project's strict parser and interface as a bounded engineering exercise. Requirement: invalid or incomplete output must produce an explicit failure and never a fabricated self-care result. Test both directions: a valid result must pass. Editing the patient message must clear any old result. A deterministic software check can be reproducible without being a complete clinical safety solution. The user-visible failure state still needs an appropriate owner and next step. Invite a no-code test table first, then optionally inspect a failing automated test. Sources: https://github.com/bGOATnote/goatnote-disposition/tree/codex/goatnote-classroom-rebrand/src/stripped ; https://github.com/bGOATnote/goatnote-disposition/blob/codex/goatnote-classroom-rebrand/docs/STUDENT_GUIDE.md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illustrative design exercise connected to the presenter's user-supplied role at Scaling Up EMDR. It is not a description of a deployed employer system. Imagine an assistant answering questions about approved training materials. Students specify an allowed source, permission boundary, visible provenance, behavior when evidence is missing, and an accountable human. Keep proprietary repositories, client content and internal outcomes outside the class. The same reasoning applies to a biomedical tool even when its domain and consequences differ.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Give students a path that does not require pretending to be clinicians. Start with one saved GOATnote case and an engineering claim. A useful artifact includes the source, a reproducible test, a result and a limit. Students can contribute through software reliability, evaluation analysis, human factors or scientific communication. Ask them to explain why the test matters and what it does not establish. This connects technical work with the communication and career aims of the public graduate course descriptions. Sources: https://github.com/bGOATnote/goatnote-disposition/blob/codex/goatnote-classroom-rebrand/docs/STUDENT_GUIDE.md ; Related public course descriptions, not a verified BIOM 7109/8109 syllabus: https://digitalcommons.memphis.edu/biomedical-engineering-syllabi/13/ ; https://digitalcommons.memphis.edu/biomedical-engineering-syllabi/54/ ; https://bmegg.ucdavis.edu/courses ; https://catalog.olemiss.edu/engineering/biomedical-engineering/bme-600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 from the user's supplied experience: interviewing at numerous medical schools and residencies, and serving as an advisor and friend to people who did not get the outcome they hoped for, sometimes without a clear explanation. Do not invent counts, private stories or reasons for a particular rejection. A selection outcome is noisy information, not a verdict on a person's worth. Repeated attempts with feedback can improve opportunity and skill, but do not guarantee admission or employment. Invite students to choose a sustainable cycle: make something small, seek specific feedback, revise and try again. The quotation is a career maxim supplied by the presenter.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 to the ideal outcome and oversized gain students named at the beginning. Ask what changed and invite one concrete next step. The suggested resource ladder is optional, not a homework requirement. Start with the saved classroom case viewer; OpenEM helps with structured sources, LostBench with multi-turn evaluation, and HealthCraft with stateful tools and checks. These repositories are research artifacts with documented limitations. Students should read status and provenance before running anything; some are in passive maintenance. Links: https://github.com/bGOATnote/goatnote-disposition/blob/codex/goatnote-classroom-rebrand/docs/STUDENT_GUIDE.md ; https://github.com/GOATnote-Inc/openem-corpus ; https://github.com/GOATnote-Inc/lostbench ; https://github.com/GOATnote-Inc/healthcraft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8860f99d1f24f22"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511b41b049b46a0" /><Relationship Type="http://schemas.openxmlformats.org/officeDocument/2006/relationships/slideLayout" Target="/ppt/slideLayouts/slideLayout1.xml" Id="Rcea680a9f5114958"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ea680a9f5114958"/>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f2059231ecf4400" /><Relationship Type="http://schemas.openxmlformats.org/officeDocument/2006/relationships/image" Target="/ppt/media/image.png" Id="R67d32d2648f44b60" /><Relationship Type="http://schemas.openxmlformats.org/officeDocument/2006/relationships/image" Target="/ppt/media/image.svg" Id="R63d2dc05ef2e4fc8" /><Relationship Type="http://schemas.openxmlformats.org/officeDocument/2006/relationships/notesSlide" Target="/ppt/notesSlides/notesSlide1.xml" Id="Rb0516cc9d7ff44c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83066f258bd4e20" /><Relationship Type="http://schemas.openxmlformats.org/officeDocument/2006/relationships/notesSlide" Target="/ppt/notesSlides/notesSlide2.xml" Id="R0eff39c5a1b44a7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a083eb2dd314871" /><Relationship Type="http://schemas.openxmlformats.org/officeDocument/2006/relationships/image" Target="/ppt/media/image.bin" Id="Rbbd1cfbde0d742dc" /><Relationship Type="http://schemas.openxmlformats.org/officeDocument/2006/relationships/notesSlide" Target="/ppt/notesSlides/notesSlide3.xml" Id="R4f4cafe9619b489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991c4c93b044a9a" /><Relationship Type="http://schemas.openxmlformats.org/officeDocument/2006/relationships/notesSlide" Target="/ppt/notesSlides/notesSlide4.xml" Id="R79b3cdb0b05542d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497c6f5fac24311" /><Relationship Type="http://schemas.openxmlformats.org/officeDocument/2006/relationships/notesSlide" Target="/ppt/notesSlides/notesSlide5.xml" Id="R14deaa5220774d4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c9b8f4a7f9746c5" /><Relationship Type="http://schemas.openxmlformats.org/officeDocument/2006/relationships/notesSlide" Target="/ppt/notesSlides/notesSlide6.xml" Id="Rd62c30489cb7458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172761f54e54ad1" /><Relationship Type="http://schemas.openxmlformats.org/officeDocument/2006/relationships/image" Target="/ppt/media/image.jpeg" Id="R9438aed7cf104545" /><Relationship Type="http://schemas.openxmlformats.org/officeDocument/2006/relationships/image" Target="/ppt/media/image2.jpeg" Id="Rc531ee9a9a384e94" /><Relationship Type="http://schemas.openxmlformats.org/officeDocument/2006/relationships/notesSlide" Target="/ppt/notesSlides/notesSlide7.xml" Id="R2653cdab7759428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a10bf90c2224217" /><Relationship Type="http://schemas.openxmlformats.org/officeDocument/2006/relationships/notesSlide" Target="/ppt/notesSlides/notesSlide8.xml" Id="R47716289b74b462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66aeb1dc20d4841" /><Relationship Type="http://schemas.openxmlformats.org/officeDocument/2006/relationships/notesSlide" Target="/ppt/notesSlides/notesSlide9.xml" Id="Rfb365b6b1e5044b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09c8b50f9174528" /><Relationship Type="http://schemas.openxmlformats.org/officeDocument/2006/relationships/notesSlide" Target="/ppt/notesSlides/notesSlide10.xml" Id="Rdc4f554ec950409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127c112cc4c471e" /><Relationship Type="http://schemas.openxmlformats.org/officeDocument/2006/relationships/notesSlide" Target="/ppt/notesSlides/notesSlide11.xml" Id="R93907c156be3491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119b43e3bfe48e5" /><Relationship Type="http://schemas.openxmlformats.org/officeDocument/2006/relationships/notesSlide" Target="/ppt/notesSlides/notesSlide12.xml" Id="R64d0c57407e9467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f5b33ce463141b1" /><Relationship Type="http://schemas.openxmlformats.org/officeDocument/2006/relationships/notesSlide" Target="/ppt/notesSlides/notesSlide13.xml" Id="R2af72d955690407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42701ff488d48dd" /><Relationship Type="http://schemas.openxmlformats.org/officeDocument/2006/relationships/notesSlide" Target="/ppt/notesSlides/notesSlide14.xml" Id="R58b872c7fe584a5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a629628dadde4586" /><Relationship Type="http://schemas.openxmlformats.org/officeDocument/2006/relationships/notesSlide" Target="/ppt/notesSlides/notesSlide15.xml" Id="Rbcfb4dbc0ff74cf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f9a6352d69a4f30" /><Relationship Type="http://schemas.openxmlformats.org/officeDocument/2006/relationships/image" Target="/ppt/media/image2.png" Id="Ra859e527de4e4570" /><Relationship Type="http://schemas.openxmlformats.org/officeDocument/2006/relationships/image" Target="/ppt/media/image2.svg" Id="R2d563037aefa4932" /><Relationship Type="http://schemas.openxmlformats.org/officeDocument/2006/relationships/notesSlide" Target="/ppt/notesSlides/notesSlide16.xml" Id="Refb44391fde84367" /></Relationships>
</file>

<file path=ppt/slides/slide1.xml><?xml version="1.0" encoding="utf-8"?>
<p:sld xmlns:p="http://schemas.openxmlformats.org/presentationml/2006/main">
  <p:cSld>
    <p:bg>
      <p:bgPr>
        <a:solidFill xmlns:a="http://schemas.openxmlformats.org/drawingml/2006/main">
          <a:srgbClr val="16233E"/>
        </a:solidFill>
      </p:bgPr>
    </p:bg>
    <p:spTree>
      <p:nvGrpSpPr>
        <p:cNvPr id="1" name=""/>
        <p:cNvGrpSpPr/>
        <p:nvPr/>
      </p:nvGrpSpPr>
      <p:grpSpPr>
        <a:xfrm xmlns:a="http://schemas.openxmlformats.org/drawingml/2006/main"/>
      </p:grpSpPr>
      <p:sp>
        <p:nvSpPr>
          <p:cNvPr id="7" name="BIOM 7109 / 8109   UNIVERSITY OF MEMPHIS   SEPTEMBER 29">
            <a:extLst xmlns:a="http://schemas.openxmlformats.org/drawingml/2006/main">
              <a:ext uri="{FF2B5EF4-FFF2-40B4-BE49-F238E27FC236}">
                <a16:creationId xmlns:a16="http://schemas.microsoft.com/office/drawing/2014/main" id="{2C78ED23-CEA3-4E7B-9C3D-D8DD26B9C613}"/>
              </a:ext>
            </a:extLst>
          </p:cNvPr>
          <p:cNvSpPr>
            <a:spLocks xmlns:a="http://schemas.openxmlformats.org/drawingml/2006/main" noGrp="1"/>
          </p:cNvSpPr>
          <p:nvPr/>
        </p:nvSpPr>
        <p:spPr>
          <a:xfrm xmlns:a="http://schemas.openxmlformats.org/drawingml/2006/main">
            <a:off x="762000" y="742950"/>
            <a:ext cx="1038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0">
                <a:solidFill>
                  <a:srgbClr val="B4C3D7"/>
                </a:solidFill>
                <a:latin typeface="IBM Plex Sans"/>
                <a:ea typeface="IBM Plex Sans"/>
                <a:cs typeface="IBM Plex Sans"/>
              </a:defRPr>
            </a:pPr>
            <a:r>
              <a:rPr sz="1425" b="0">
                <a:solidFill>
                  <a:srgbClr val="B4C3D7"/>
                </a:solidFill>
                <a:latin typeface="IBM Plex Sans"/>
                <a:ea typeface="IBM Plex Sans"/>
                <a:cs typeface="IBM Plex Sans"/>
              </a:rPr>
              <a:t>BIOM 7109 / 8109   UNIVERSITY OF MEMPHIS   SEPTEMBER 29, 2026</a:t>
            </a:r>
          </a:p>
        </p:txBody>
      </p:sp>
      <p:sp>
        <p:nvSpPr>
          <p:cNvPr id="2" name="Fail-closed&#10;clinical AI">
            <a:extLst xmlns:a="http://schemas.openxmlformats.org/drawingml/2006/main">
              <a:ext uri="{FF2B5EF4-FFF2-40B4-BE49-F238E27FC236}">
                <a16:creationId xmlns:a16="http://schemas.microsoft.com/office/drawing/2014/main" id="{6674F0AC-95F4-4D19-9D6F-F4BC625E9025}"/>
              </a:ext>
            </a:extLst>
          </p:cNvPr>
          <p:cNvSpPr>
            <a:spLocks xmlns:a="http://schemas.openxmlformats.org/drawingml/2006/main" noGrp="1"/>
          </p:cNvSpPr>
          <p:nvPr/>
        </p:nvSpPr>
        <p:spPr>
          <a:xfrm xmlns:a="http://schemas.openxmlformats.org/drawingml/2006/main">
            <a:off x="762000" y="2019300"/>
            <a:ext cx="101917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6750" b="1">
                <a:solidFill>
                  <a:srgbClr val="FFFFFF"/>
                </a:solidFill>
                <a:latin typeface="IBM Plex Sans"/>
                <a:ea typeface="IBM Plex Sans"/>
                <a:cs typeface="IBM Plex Sans"/>
              </a:defRPr>
            </a:pPr>
            <a:r>
              <a:rPr sz="6750" b="1">
                <a:solidFill>
                  <a:srgbClr val="FFFFFF"/>
                </a:solidFill>
                <a:latin typeface="IBM Plex Sans"/>
                <a:ea typeface="IBM Plex Sans"/>
                <a:cs typeface="IBM Plex Sans"/>
              </a:rPr>
              <a:t>Fail-closed</a:t>
            </a:r>
          </a:p>
          <a:p xmlns:a="http://schemas.openxmlformats.org/drawingml/2006/main">
            <a:pPr>
              <a:defRPr sz="6750" b="1">
                <a:solidFill>
                  <a:srgbClr val="FFFFFF"/>
                </a:solidFill>
                <a:latin typeface="IBM Plex Sans"/>
                <a:ea typeface="IBM Plex Sans"/>
                <a:cs typeface="IBM Plex Sans"/>
              </a:defRPr>
            </a:pPr>
            <a:r>
              <a:rPr sz="6750" b="1">
                <a:solidFill>
                  <a:srgbClr val="FFFFFF"/>
                </a:solidFill>
                <a:latin typeface="IBM Plex Sans"/>
                <a:ea typeface="IBM Plex Sans"/>
                <a:cs typeface="IBM Plex Sans"/>
              </a:rPr>
              <a:t>clinical AI</a:t>
            </a:r>
          </a:p>
        </p:txBody>
      </p:sp>
      <p:sp>
        <p:nvSpPr>
          <p:cNvPr id="3" name="Lessons from the ED for biomedical engineers">
            <a:extLst xmlns:a="http://schemas.openxmlformats.org/drawingml/2006/main">
              <a:ext uri="{FF2B5EF4-FFF2-40B4-BE49-F238E27FC236}">
                <a16:creationId xmlns:a16="http://schemas.microsoft.com/office/drawing/2014/main" id="{5195F623-8648-4778-BB12-241AB553BC24}"/>
              </a:ext>
            </a:extLst>
          </p:cNvPr>
          <p:cNvSpPr>
            <a:spLocks xmlns:a="http://schemas.openxmlformats.org/drawingml/2006/main" noGrp="1"/>
          </p:cNvSpPr>
          <p:nvPr/>
        </p:nvSpPr>
        <p:spPr>
          <a:xfrm xmlns:a="http://schemas.openxmlformats.org/drawingml/2006/main">
            <a:off x="762000" y="4229100"/>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0">
                <a:solidFill>
                  <a:srgbClr val="B4C3D7"/>
                </a:solidFill>
                <a:latin typeface="IBM Plex Sans"/>
                <a:ea typeface="IBM Plex Sans"/>
                <a:cs typeface="IBM Plex Sans"/>
              </a:defRPr>
            </a:pPr>
            <a:r>
              <a:rPr sz="2775" b="0">
                <a:solidFill>
                  <a:srgbClr val="B4C3D7"/>
                </a:solidFill>
                <a:latin typeface="IBM Plex Sans"/>
                <a:ea typeface="IBM Plex Sans"/>
                <a:cs typeface="IBM Plex Sans"/>
              </a:rPr>
              <a:t>Lessons from the ED for biomedical engineers</a:t>
            </a:r>
          </a:p>
        </p:txBody>
      </p:sp>
      <p:sp>
        <p:nvSpPr>
          <p:cNvPr id="4" name="Brandon Dent, MD">
            <a:extLst xmlns:a="http://schemas.openxmlformats.org/drawingml/2006/main">
              <a:ext uri="{FF2B5EF4-FFF2-40B4-BE49-F238E27FC236}">
                <a16:creationId xmlns:a16="http://schemas.microsoft.com/office/drawing/2014/main" id="{96A3CC47-DB71-4DBF-A0C3-DE515277BACD}"/>
              </a:ext>
            </a:extLst>
          </p:cNvPr>
          <p:cNvSpPr>
            <a:spLocks xmlns:a="http://schemas.openxmlformats.org/drawingml/2006/main" noGrp="1"/>
          </p:cNvSpPr>
          <p:nvPr/>
        </p:nvSpPr>
        <p:spPr>
          <a:xfrm xmlns:a="http://schemas.openxmlformats.org/drawingml/2006/main">
            <a:off x="762000" y="5162550"/>
            <a:ext cx="666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1">
                <a:solidFill>
                  <a:srgbClr val="FFFFFF"/>
                </a:solidFill>
                <a:latin typeface="IBM Plex Sans"/>
                <a:ea typeface="IBM Plex Sans"/>
                <a:cs typeface="IBM Plex Sans"/>
              </a:defRPr>
            </a:pPr>
            <a:r>
              <a:rPr sz="2325" b="1">
                <a:solidFill>
                  <a:srgbClr val="FFFFFF"/>
                </a:solidFill>
                <a:latin typeface="IBM Plex Sans"/>
                <a:ea typeface="IBM Plex Sans"/>
                <a:cs typeface="IBM Plex Sans"/>
              </a:rPr>
              <a:t>Brandon Dent, MD</a:t>
            </a:r>
          </a:p>
        </p:txBody>
      </p:sp>
      <p:sp>
        <p:nvSpPr>
          <p:cNvPr id="5" name="Emergency Medicine Physician   /   GOATnote&#10;Enterprise ">
            <a:extLst xmlns:a="http://schemas.openxmlformats.org/drawingml/2006/main">
              <a:ext uri="{FF2B5EF4-FFF2-40B4-BE49-F238E27FC236}">
                <a16:creationId xmlns:a16="http://schemas.microsoft.com/office/drawing/2014/main" id="{B9F1244F-0FF5-4993-BDAD-6D49327A6B27}"/>
              </a:ext>
            </a:extLst>
          </p:cNvPr>
          <p:cNvSpPr>
            <a:spLocks xmlns:a="http://schemas.openxmlformats.org/drawingml/2006/main" noGrp="1"/>
          </p:cNvSpPr>
          <p:nvPr/>
        </p:nvSpPr>
        <p:spPr>
          <a:xfrm xmlns:a="http://schemas.openxmlformats.org/drawingml/2006/main">
            <a:off x="762000" y="5600700"/>
            <a:ext cx="10191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B4C3D7"/>
                </a:solidFill>
                <a:latin typeface="IBM Plex Sans"/>
                <a:ea typeface="IBM Plex Sans"/>
                <a:cs typeface="IBM Plex Sans"/>
              </a:defRPr>
            </a:pPr>
            <a:r>
              <a:rPr sz="1650" b="0">
                <a:solidFill>
                  <a:srgbClr val="B4C3D7"/>
                </a:solidFill>
                <a:latin typeface="IBM Plex Sans"/>
                <a:ea typeface="IBM Plex Sans"/>
                <a:cs typeface="IBM Plex Sans"/>
              </a:rPr>
              <a:t>Emergency Medicine Physician   /   GOATnote</a:t>
            </a:r>
          </a:p>
          <a:p xmlns:a="http://schemas.openxmlformats.org/drawingml/2006/main">
            <a:pPr>
              <a:defRPr sz="1650" b="0">
                <a:solidFill>
                  <a:srgbClr val="B4C3D7"/>
                </a:solidFill>
                <a:latin typeface="IBM Plex Sans"/>
                <a:ea typeface="IBM Plex Sans"/>
                <a:cs typeface="IBM Plex Sans"/>
              </a:defRPr>
            </a:pPr>
            <a:r>
              <a:rPr sz="1650" b="0">
                <a:solidFill>
                  <a:srgbClr val="B4C3D7"/>
                </a:solidFill>
                <a:latin typeface="IBM Plex Sans"/>
                <a:ea typeface="IBM Plex Sans"/>
                <a:cs typeface="IBM Plex Sans"/>
              </a:rPr>
              <a:t>Enterprise Systems Architect &amp; Technical Advisor to Scaling Up EMDR</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67d32d2648f44b60">
            <a:extLst>
              <a:ext uri="{96DAC541-7B7A-43D3-8B79-37D633B846F1}">
                <asvg:svgBlip xmlns:asvg="http://schemas.microsoft.com/office/drawing/2016/SVG/main" r:embed="R63d2dc05ef2e4fc8"/>
              </a:ext>
            </a:extLst>
          </a:blip>
          <a:stretch xmlns:a="http://schemas.openxmlformats.org/drawingml/2006/main"/>
        </p:blipFill>
        <p:spPr>
          <a:xfrm xmlns:a="http://schemas.openxmlformats.org/drawingml/2006/main">
            <a:off x="8810625" y="1209675"/>
            <a:ext cx="2571750" cy="638175"/>
          </a:xfrm>
          <a:prstGeom xmlns:a="http://schemas.openxmlformats.org/drawingml/2006/main" prst="rect">
            <a:avLst/>
          </a:prstGeom>
        </p:spPr>
      </p:pic>
    </p:spTree>
    <p:extLst>
      <p:ext uri="{BB962C8B-B14F-4D97-AF65-F5344CB8AC3E}">
        <p14:creationId xmlns:p14="http://schemas.microsoft.com/office/powerpoint/2010/main" val="531253040"/>
      </p:ext>
    </p:extLst>
  </p:cSld>
</p:sld>
</file>

<file path=ppt/slides/slide2.xml><?xml version="1.0" encoding="utf-8"?>
<p:sld xmlns:p="http://schemas.openxmlformats.org/presentationml/2006/main">
  <p:cSld>
    <p:bg>
      <p:bgPr>
        <a:solidFill xmlns:a="http://schemas.openxmlformats.org/drawingml/2006/main">
          <a:srgbClr val="F5F3ED"/>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9AB86EE2-FB6C-49AC-902F-1EDC68422E8F}"/>
              </a:ext>
            </a:extLst>
          </p:cNvPr>
          <p:cNvSpPr>
            <a:spLocks xmlns:a="http://schemas.openxmlformats.org/drawingml/2006/main" noGrp="1"/>
          </p:cNvSpPr>
          <p:nvPr/>
        </p:nvSpPr>
        <p:spPr>
          <a:xfrm xmlns:a="http://schemas.openxmlformats.org/drawingml/2006/main">
            <a:off x="762000" y="609600"/>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450" b="1">
                <a:solidFill>
                  <a:srgbClr val="16233E"/>
                </a:solidFill>
                <a:latin typeface="IBM Plex Sans"/>
                <a:ea typeface="IBM Plex Sans"/>
                <a:cs typeface="IBM Plex Sans"/>
              </a:defRPr>
            </a:pPr>
            <a:r>
              <a:rPr sz="3450" b="1">
                <a:solidFill>
                  <a:srgbClr val="16233E"/>
                </a:solidFill>
                <a:latin typeface="IBM Plex Sans"/>
                <a:ea typeface="IBM Plex Sans"/>
                <a:cs typeface="IBM Plex Sans"/>
              </a:rPr>
              <a:t>What would make this session valuable?</a:t>
            </a:r>
          </a:p>
        </p:txBody>
      </p:sp>
      <p:sp>
        <p:nvSpPr>
          <p:cNvPr id="2" name="IDEAL OUTCOME">
            <a:extLst xmlns:a="http://schemas.openxmlformats.org/drawingml/2006/main">
              <a:ext uri="{FF2B5EF4-FFF2-40B4-BE49-F238E27FC236}">
                <a16:creationId xmlns:a16="http://schemas.microsoft.com/office/drawing/2014/main" id="{1ACEE067-9942-4302-8FC1-33F207B8A732}"/>
              </a:ext>
            </a:extLst>
          </p:cNvPr>
          <p:cNvSpPr>
            <a:spLocks xmlns:a="http://schemas.openxmlformats.org/drawingml/2006/main" noGrp="1"/>
          </p:cNvSpPr>
          <p:nvPr/>
        </p:nvSpPr>
        <p:spPr>
          <a:xfrm xmlns:a="http://schemas.openxmlformats.org/drawingml/2006/main">
            <a:off x="762000" y="1771650"/>
            <a:ext cx="1028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87D73"/>
                </a:solidFill>
                <a:latin typeface="IBM Plex Sans"/>
                <a:ea typeface="IBM Plex Sans"/>
                <a:cs typeface="IBM Plex Sans"/>
              </a:defRPr>
            </a:pPr>
            <a:r>
              <a:rPr sz="2175" b="1">
                <a:solidFill>
                  <a:srgbClr val="187D73"/>
                </a:solidFill>
                <a:latin typeface="IBM Plex Sans"/>
                <a:ea typeface="IBM Plex Sans"/>
                <a:cs typeface="IBM Plex Sans"/>
              </a:rPr>
              <a:t>IDEAL OUTCOME</a:t>
            </a:r>
          </a:p>
        </p:txBody>
      </p:sp>
      <p:sp>
        <p:nvSpPr>
          <p:cNvPr id="3" name="A method you can use to test a biomedical AI system.">
            <a:extLst xmlns:a="http://schemas.openxmlformats.org/drawingml/2006/main">
              <a:ext uri="{FF2B5EF4-FFF2-40B4-BE49-F238E27FC236}">
                <a16:creationId xmlns:a16="http://schemas.microsoft.com/office/drawing/2014/main" id="{5D7544BE-EC65-4AD6-932C-36AB1613D9D0}"/>
              </a:ext>
            </a:extLst>
          </p:cNvPr>
          <p:cNvSpPr>
            <a:spLocks xmlns:a="http://schemas.openxmlformats.org/drawingml/2006/main" noGrp="1"/>
          </p:cNvSpPr>
          <p:nvPr/>
        </p:nvSpPr>
        <p:spPr>
          <a:xfrm xmlns:a="http://schemas.openxmlformats.org/drawingml/2006/main">
            <a:off x="762000" y="2228850"/>
            <a:ext cx="102870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6233E"/>
                </a:solidFill>
                <a:latin typeface="IBM Plex Sans"/>
                <a:ea typeface="IBM Plex Sans"/>
                <a:cs typeface="IBM Plex Sans"/>
              </a:defRPr>
            </a:pPr>
            <a:r>
              <a:rPr sz="2250" b="0">
                <a:solidFill>
                  <a:srgbClr val="16233E"/>
                </a:solidFill>
                <a:latin typeface="IBM Plex Sans"/>
                <a:ea typeface="IBM Plex Sans"/>
                <a:cs typeface="IBM Plex Sans"/>
              </a:rPr>
              <a:t>A method you can use to test a biomedical AI system.</a:t>
            </a:r>
          </a:p>
        </p:txBody>
      </p:sp>
      <p:sp>
        <p:nvSpPr>
          <p:cNvPr id="4" name="OVERSIZED GAIN">
            <a:extLst xmlns:a="http://schemas.openxmlformats.org/drawingml/2006/main">
              <a:ext uri="{FF2B5EF4-FFF2-40B4-BE49-F238E27FC236}">
                <a16:creationId xmlns:a16="http://schemas.microsoft.com/office/drawing/2014/main" id="{C85848C9-F134-4F47-B85D-67B26E0EB47E}"/>
              </a:ext>
            </a:extLst>
          </p:cNvPr>
          <p:cNvSpPr>
            <a:spLocks xmlns:a="http://schemas.openxmlformats.org/drawingml/2006/main" noGrp="1"/>
          </p:cNvSpPr>
          <p:nvPr/>
        </p:nvSpPr>
        <p:spPr>
          <a:xfrm xmlns:a="http://schemas.openxmlformats.org/drawingml/2006/main">
            <a:off x="762000" y="3390900"/>
            <a:ext cx="1028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87D73"/>
                </a:solidFill>
                <a:latin typeface="IBM Plex Sans"/>
                <a:ea typeface="IBM Plex Sans"/>
                <a:cs typeface="IBM Plex Sans"/>
              </a:defRPr>
            </a:pPr>
            <a:r>
              <a:rPr sz="2175" b="1">
                <a:solidFill>
                  <a:srgbClr val="187D73"/>
                </a:solidFill>
                <a:latin typeface="IBM Plex Sans"/>
                <a:ea typeface="IBM Plex Sans"/>
                <a:cs typeface="IBM Plex Sans"/>
              </a:rPr>
              <a:t>OVERSIZED GAIN</a:t>
            </a:r>
          </a:p>
        </p:txBody>
      </p:sp>
      <p:sp>
        <p:nvSpPr>
          <p:cNvPr id="5" name="A small, reproducible contribution you can defend in a ">
            <a:extLst xmlns:a="http://schemas.openxmlformats.org/drawingml/2006/main">
              <a:ext uri="{FF2B5EF4-FFF2-40B4-BE49-F238E27FC236}">
                <a16:creationId xmlns:a16="http://schemas.microsoft.com/office/drawing/2014/main" id="{F5641505-D7AA-4D81-8E24-7142713D2BDE}"/>
              </a:ext>
            </a:extLst>
          </p:cNvPr>
          <p:cNvSpPr>
            <a:spLocks xmlns:a="http://schemas.openxmlformats.org/drawingml/2006/main" noGrp="1"/>
          </p:cNvSpPr>
          <p:nvPr/>
        </p:nvSpPr>
        <p:spPr>
          <a:xfrm xmlns:a="http://schemas.openxmlformats.org/drawingml/2006/main">
            <a:off x="762000" y="3848100"/>
            <a:ext cx="102870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6233E"/>
                </a:solidFill>
                <a:latin typeface="IBM Plex Sans"/>
                <a:ea typeface="IBM Plex Sans"/>
                <a:cs typeface="IBM Plex Sans"/>
              </a:defRPr>
            </a:pPr>
            <a:r>
              <a:rPr sz="2250" b="0">
                <a:solidFill>
                  <a:srgbClr val="16233E"/>
                </a:solidFill>
                <a:latin typeface="IBM Plex Sans"/>
                <a:ea typeface="IBM Plex Sans"/>
                <a:cs typeface="IBM Plex Sans"/>
              </a:rPr>
              <a:t>A small, reproducible contribution you can defend in a lab meeting or interview.</a:t>
            </a:r>
          </a:p>
        </p:txBody>
      </p:sp>
      <p:sp>
        <p:nvSpPr>
          <p:cNvPr id="6" name="90 seconds with a partner: what would those look like f">
            <a:extLst xmlns:a="http://schemas.openxmlformats.org/drawingml/2006/main">
              <a:ext uri="{FF2B5EF4-FFF2-40B4-BE49-F238E27FC236}">
                <a16:creationId xmlns:a16="http://schemas.microsoft.com/office/drawing/2014/main" id="{19F44216-0994-4823-8467-DBBB079FD34B}"/>
              </a:ext>
            </a:extLst>
          </p:cNvPr>
          <p:cNvSpPr>
            <a:spLocks xmlns:a="http://schemas.openxmlformats.org/drawingml/2006/main" noGrp="1"/>
          </p:cNvSpPr>
          <p:nvPr/>
        </p:nvSpPr>
        <p:spPr>
          <a:xfrm xmlns:a="http://schemas.openxmlformats.org/drawingml/2006/main">
            <a:off x="762000" y="541020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87D73"/>
                </a:solidFill>
                <a:latin typeface="IBM Plex Sans"/>
                <a:ea typeface="IBM Plex Sans"/>
                <a:cs typeface="IBM Plex Sans"/>
              </a:defRPr>
            </a:pPr>
            <a:r>
              <a:rPr sz="2175" b="1">
                <a:solidFill>
                  <a:srgbClr val="187D73"/>
                </a:solidFill>
                <a:latin typeface="IBM Plex Sans"/>
                <a:ea typeface="IBM Plex Sans"/>
                <a:cs typeface="IBM Plex Sans"/>
              </a:rPr>
              <a:t>90 seconds with a partner: what would those look like for you?</a:t>
            </a:r>
          </a:p>
        </p:txBody>
      </p:sp>
      <p:sp>
        <p:nvSpPr>
          <p:cNvPr id="7" name="Brandon Dent, MD   /   BIOM 7109/8109">
            <a:extLst xmlns:a="http://schemas.openxmlformats.org/drawingml/2006/main">
              <a:ext uri="{FF2B5EF4-FFF2-40B4-BE49-F238E27FC236}">
                <a16:creationId xmlns:a16="http://schemas.microsoft.com/office/drawing/2014/main" id="{A0DFC754-B150-4C56-8A06-139AA61A4E37}"/>
              </a:ext>
            </a:extLst>
          </p:cNvPr>
          <p:cNvSpPr>
            <a:spLocks xmlns:a="http://schemas.openxmlformats.org/drawingml/2006/main" noGrp="1"/>
          </p:cNvSpPr>
          <p:nvPr/>
        </p:nvSpPr>
        <p:spPr>
          <a:xfrm xmlns:a="http://schemas.openxmlformats.org/drawingml/2006/main">
            <a:off x="762000" y="6334125"/>
            <a:ext cx="981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b="0">
                <a:solidFill>
                  <a:srgbClr val="596475"/>
                </a:solidFill>
                <a:latin typeface="IBM Plex Sans"/>
                <a:ea typeface="IBM Plex Sans"/>
                <a:cs typeface="IBM Plex Sans"/>
              </a:defRPr>
            </a:pPr>
            <a:r>
              <a:rPr sz="1275" b="0">
                <a:solidFill>
                  <a:srgbClr val="596475"/>
                </a:solidFill>
                <a:latin typeface="IBM Plex Sans"/>
                <a:ea typeface="IBM Plex Sans"/>
                <a:cs typeface="IBM Plex Sans"/>
              </a:rPr>
              <a:t>Brandon Dent, MD   /   BIOM 7109/8109</a:t>
            </a:r>
          </a:p>
        </p:txBody>
      </p:sp>
      <p:sp>
        <p:nvSpPr>
          <p:cNvPr id="8" name="2 / 16">
            <a:extLst xmlns:a="http://schemas.openxmlformats.org/drawingml/2006/main">
              <a:ext uri="{FF2B5EF4-FFF2-40B4-BE49-F238E27FC236}">
                <a16:creationId xmlns:a16="http://schemas.microsoft.com/office/drawing/2014/main" id="{0AE256B1-11C0-4550-A9EC-487B0A8EC45B}"/>
              </a:ext>
            </a:extLst>
          </p:cNvPr>
          <p:cNvSpPr>
            <a:spLocks xmlns:a="http://schemas.openxmlformats.org/drawingml/2006/main" noGrp="1"/>
          </p:cNvSpPr>
          <p:nvPr/>
        </p:nvSpPr>
        <p:spPr>
          <a:xfrm xmlns:a="http://schemas.openxmlformats.org/drawingml/2006/main">
            <a:off x="10791825" y="6334125"/>
            <a:ext cx="762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b="0">
                <a:solidFill>
                  <a:srgbClr val="596475"/>
                </a:solidFill>
                <a:latin typeface="IBM Plex Sans"/>
                <a:ea typeface="IBM Plex Sans"/>
                <a:cs typeface="IBM Plex Sans"/>
              </a:defRPr>
            </a:pPr>
            <a:r>
              <a:rPr sz="1275" b="0">
                <a:solidFill>
                  <a:srgbClr val="596475"/>
                </a:solidFill>
                <a:latin typeface="IBM Plex Sans"/>
                <a:ea typeface="IBM Plex Sans"/>
                <a:cs typeface="IBM Plex Sans"/>
              </a:rPr>
              <a:t>2 / 16</a:t>
            </a:r>
          </a:p>
        </p:txBody>
      </p:sp>
    </p:spTree>
    <p:extLst>
      <p:ext uri="{BB962C8B-B14F-4D97-AF65-F5344CB8AC3E}">
        <p14:creationId xmlns:p14="http://schemas.microsoft.com/office/powerpoint/2010/main" val="810315677"/>
      </p:ext>
    </p:extLst>
  </p:cSld>
</p:sld>
</file>

<file path=ppt/slides/slide3.xml><?xml version="1.0" encoding="utf-8"?>
<p:sld xmlns:p="http://schemas.openxmlformats.org/presentationml/2006/main">
  <p:cSld>
    <p:bg>
      <p:bgPr>
        <a:solidFill xmlns:a="http://schemas.openxmlformats.org/drawingml/2006/main">
          <a:srgbClr val="F5F3ED"/>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D7FBDE97-8D49-4B61-B0EE-4A905D947C8C}"/>
              </a:ext>
            </a:extLst>
          </p:cNvPr>
          <p:cNvSpPr>
            <a:spLocks xmlns:a="http://schemas.openxmlformats.org/drawingml/2006/main" noGrp="1"/>
          </p:cNvSpPr>
          <p:nvPr/>
        </p:nvSpPr>
        <p:spPr>
          <a:xfrm xmlns:a="http://schemas.openxmlformats.org/drawingml/2006/main">
            <a:off x="762000" y="609600"/>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450" b="1">
                <a:solidFill>
                  <a:srgbClr val="16233E"/>
                </a:solidFill>
                <a:latin typeface="IBM Plex Sans"/>
                <a:ea typeface="IBM Plex Sans"/>
                <a:cs typeface="IBM Plex Sans"/>
              </a:defRPr>
            </a:pPr>
            <a:r>
              <a:rPr sz="3450" b="1">
                <a:solidFill>
                  <a:srgbClr val="16233E"/>
                </a:solidFill>
                <a:latin typeface="IBM Plex Sans"/>
                <a:ea typeface="IBM Plex Sans"/>
                <a:cs typeface="IBM Plex Sans"/>
              </a:rPr>
              <a:t>Clinical judgment and systems responsibility</a:t>
            </a:r>
          </a:p>
        </p:txBody>
      </p:sp>
      <p:sp>
        <p:nvSpPr>
          <p:cNvPr id="2" name="EMERGENCY MEDICINE">
            <a:extLst xmlns:a="http://schemas.openxmlformats.org/drawingml/2006/main">
              <a:ext uri="{FF2B5EF4-FFF2-40B4-BE49-F238E27FC236}">
                <a16:creationId xmlns:a16="http://schemas.microsoft.com/office/drawing/2014/main" id="{0FE3A798-0CAB-497B-9BDD-83165029F303}"/>
              </a:ext>
            </a:extLst>
          </p:cNvPr>
          <p:cNvSpPr>
            <a:spLocks xmlns:a="http://schemas.openxmlformats.org/drawingml/2006/main" noGrp="1"/>
          </p:cNvSpPr>
          <p:nvPr/>
        </p:nvSpPr>
        <p:spPr>
          <a:xfrm xmlns:a="http://schemas.openxmlformats.org/drawingml/2006/main">
            <a:off x="762000" y="1714500"/>
            <a:ext cx="714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87D73"/>
                </a:solidFill>
                <a:latin typeface="IBM Plex Sans"/>
                <a:ea typeface="IBM Plex Sans"/>
                <a:cs typeface="IBM Plex Sans"/>
              </a:defRPr>
            </a:pPr>
            <a:r>
              <a:rPr sz="2175" b="1">
                <a:solidFill>
                  <a:srgbClr val="187D73"/>
                </a:solidFill>
                <a:latin typeface="IBM Plex Sans"/>
                <a:ea typeface="IBM Plex Sans"/>
                <a:cs typeface="IBM Plex Sans"/>
              </a:rPr>
              <a:t>EMERGENCY MEDICINE</a:t>
            </a:r>
          </a:p>
        </p:txBody>
      </p:sp>
      <p:sp>
        <p:nvSpPr>
          <p:cNvPr id="3" name="Decisions under uncertainty, incomplete information and">
            <a:extLst xmlns:a="http://schemas.openxmlformats.org/drawingml/2006/main">
              <a:ext uri="{FF2B5EF4-FFF2-40B4-BE49-F238E27FC236}">
                <a16:creationId xmlns:a16="http://schemas.microsoft.com/office/drawing/2014/main" id="{4B1D25FE-F1D1-4AF7-9712-51E2FA8313DC}"/>
              </a:ext>
            </a:extLst>
          </p:cNvPr>
          <p:cNvSpPr>
            <a:spLocks xmlns:a="http://schemas.openxmlformats.org/drawingml/2006/main" noGrp="1"/>
          </p:cNvSpPr>
          <p:nvPr/>
        </p:nvSpPr>
        <p:spPr>
          <a:xfrm xmlns:a="http://schemas.openxmlformats.org/drawingml/2006/main">
            <a:off x="762000" y="2171700"/>
            <a:ext cx="7143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6233E"/>
                </a:solidFill>
                <a:latin typeface="IBM Plex Sans"/>
                <a:ea typeface="IBM Plex Sans"/>
                <a:cs typeface="IBM Plex Sans"/>
              </a:defRPr>
            </a:pPr>
            <a:r>
              <a:rPr sz="2250" b="0">
                <a:solidFill>
                  <a:srgbClr val="16233E"/>
                </a:solidFill>
                <a:latin typeface="IBM Plex Sans"/>
                <a:ea typeface="IBM Plex Sans"/>
                <a:cs typeface="IBM Plex Sans"/>
              </a:rPr>
              <a:t>Decisions under uncertainty, incomplete information and consequences that cannot wait.</a:t>
            </a:r>
          </a:p>
        </p:txBody>
      </p:sp>
      <p:sp>
        <p:nvSpPr>
          <p:cNvPr id="4" name="GOATnote">
            <a:extLst xmlns:a="http://schemas.openxmlformats.org/drawingml/2006/main">
              <a:ext uri="{FF2B5EF4-FFF2-40B4-BE49-F238E27FC236}">
                <a16:creationId xmlns:a16="http://schemas.microsoft.com/office/drawing/2014/main" id="{C005075E-A14F-4A34-B359-87176E501BD5}"/>
              </a:ext>
            </a:extLst>
          </p:cNvPr>
          <p:cNvSpPr>
            <a:spLocks xmlns:a="http://schemas.openxmlformats.org/drawingml/2006/main" noGrp="1"/>
          </p:cNvSpPr>
          <p:nvPr/>
        </p:nvSpPr>
        <p:spPr>
          <a:xfrm xmlns:a="http://schemas.openxmlformats.org/drawingml/2006/main">
            <a:off x="762000" y="3286125"/>
            <a:ext cx="714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87D73"/>
                </a:solidFill>
                <a:latin typeface="IBM Plex Sans"/>
                <a:ea typeface="IBM Plex Sans"/>
                <a:cs typeface="IBM Plex Sans"/>
              </a:defRPr>
            </a:pPr>
            <a:r>
              <a:rPr sz="2175" b="1">
                <a:solidFill>
                  <a:srgbClr val="187D73"/>
                </a:solidFill>
                <a:latin typeface="IBM Plex Sans"/>
                <a:ea typeface="IBM Plex Sans"/>
                <a:cs typeface="IBM Plex Sans"/>
              </a:rPr>
              <a:t>GOATnote</a:t>
            </a:r>
          </a:p>
        </p:txBody>
      </p:sp>
      <p:sp>
        <p:nvSpPr>
          <p:cNvPr id="5" name="Synthetic cases, explicit failure definitions and evalu">
            <a:extLst xmlns:a="http://schemas.openxmlformats.org/drawingml/2006/main">
              <a:ext uri="{FF2B5EF4-FFF2-40B4-BE49-F238E27FC236}">
                <a16:creationId xmlns:a16="http://schemas.microsoft.com/office/drawing/2014/main" id="{5AE907BC-AD10-49E3-99D6-27DEAFE6583F}"/>
              </a:ext>
            </a:extLst>
          </p:cNvPr>
          <p:cNvSpPr>
            <a:spLocks xmlns:a="http://schemas.openxmlformats.org/drawingml/2006/main" noGrp="1"/>
          </p:cNvSpPr>
          <p:nvPr/>
        </p:nvSpPr>
        <p:spPr>
          <a:xfrm xmlns:a="http://schemas.openxmlformats.org/drawingml/2006/main">
            <a:off x="762000" y="3743325"/>
            <a:ext cx="7143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6233E"/>
                </a:solidFill>
                <a:latin typeface="IBM Plex Sans"/>
                <a:ea typeface="IBM Plex Sans"/>
                <a:cs typeface="IBM Plex Sans"/>
              </a:defRPr>
            </a:pPr>
            <a:r>
              <a:rPr sz="2250" b="0">
                <a:solidFill>
                  <a:srgbClr val="16233E"/>
                </a:solidFill>
                <a:latin typeface="IBM Plex Sans"/>
                <a:ea typeface="IBM Plex Sans"/>
                <a:cs typeface="IBM Plex Sans"/>
              </a:rPr>
              <a:t>Synthetic cases, explicit failure definitions and evaluation that others can inspect.</a:t>
            </a:r>
          </a:p>
        </p:txBody>
      </p:sp>
      <p:sp>
        <p:nvSpPr>
          <p:cNvPr id="6" name="Enterprise Systems Architect &amp; Technical Advisor&#10;to Sca">
            <a:extLst xmlns:a="http://schemas.openxmlformats.org/drawingml/2006/main">
              <a:ext uri="{FF2B5EF4-FFF2-40B4-BE49-F238E27FC236}">
                <a16:creationId xmlns:a16="http://schemas.microsoft.com/office/drawing/2014/main" id="{3442150C-59BE-4051-8CB6-3B4D61C38118}"/>
              </a:ext>
            </a:extLst>
          </p:cNvPr>
          <p:cNvSpPr>
            <a:spLocks xmlns:a="http://schemas.openxmlformats.org/drawingml/2006/main" noGrp="1"/>
          </p:cNvSpPr>
          <p:nvPr/>
        </p:nvSpPr>
        <p:spPr>
          <a:xfrm xmlns:a="http://schemas.openxmlformats.org/drawingml/2006/main">
            <a:off x="762000" y="5010150"/>
            <a:ext cx="7191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187D73"/>
                </a:solidFill>
                <a:latin typeface="IBM Plex Sans"/>
                <a:ea typeface="IBM Plex Sans"/>
                <a:cs typeface="IBM Plex Sans"/>
              </a:defRPr>
            </a:pPr>
            <a:r>
              <a:rPr sz="2100" b="1">
                <a:solidFill>
                  <a:srgbClr val="187D73"/>
                </a:solidFill>
                <a:latin typeface="IBM Plex Sans"/>
                <a:ea typeface="IBM Plex Sans"/>
                <a:cs typeface="IBM Plex Sans"/>
              </a:rPr>
              <a:t>Enterprise Systems Architect &amp; Technical Advisor</a:t>
            </a:r>
          </a:p>
          <a:p xmlns:a="http://schemas.openxmlformats.org/drawingml/2006/main">
            <a:pPr>
              <a:defRPr sz="2100" b="1">
                <a:solidFill>
                  <a:srgbClr val="187D73"/>
                </a:solidFill>
                <a:latin typeface="IBM Plex Sans"/>
                <a:ea typeface="IBM Plex Sans"/>
                <a:cs typeface="IBM Plex Sans"/>
              </a:defRPr>
            </a:pPr>
            <a:r>
              <a:rPr sz="2100" b="1">
                <a:solidFill>
                  <a:srgbClr val="187D73"/>
                </a:solidFill>
                <a:latin typeface="IBM Plex Sans"/>
                <a:ea typeface="IBM Plex Sans"/>
                <a:cs typeface="IBM Plex Sans"/>
              </a:rPr>
              <a:t>to Scaling Up EMDR</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bbd1cfbde0d742dc"/>
          <a:stretch xmlns:a="http://schemas.openxmlformats.org/drawingml/2006/main"/>
        </p:blipFill>
        <p:spPr>
          <a:xfrm xmlns:a="http://schemas.openxmlformats.org/drawingml/2006/main">
            <a:off x="8595922" y="1638300"/>
            <a:ext cx="2658256" cy="4124325"/>
          </a:xfrm>
          <a:prstGeom xmlns:a="http://schemas.openxmlformats.org/drawingml/2006/main" prst="rect">
            <a:avLst/>
          </a:prstGeom>
        </p:spPr>
      </p:pic>
      <p:sp>
        <p:nvSpPr>
          <p:cNvPr id="8" name="Brandon Dent, MD   /   BIOM 7109/8109">
            <a:extLst xmlns:a="http://schemas.openxmlformats.org/drawingml/2006/main">
              <a:ext uri="{FF2B5EF4-FFF2-40B4-BE49-F238E27FC236}">
                <a16:creationId xmlns:a16="http://schemas.microsoft.com/office/drawing/2014/main" id="{6006B2CD-42E5-422A-9FBC-CDA96D928B60}"/>
              </a:ext>
            </a:extLst>
          </p:cNvPr>
          <p:cNvSpPr>
            <a:spLocks xmlns:a="http://schemas.openxmlformats.org/drawingml/2006/main" noGrp="1"/>
          </p:cNvSpPr>
          <p:nvPr/>
        </p:nvSpPr>
        <p:spPr>
          <a:xfrm xmlns:a="http://schemas.openxmlformats.org/drawingml/2006/main">
            <a:off x="762000" y="6334125"/>
            <a:ext cx="981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b="0">
                <a:solidFill>
                  <a:srgbClr val="596475"/>
                </a:solidFill>
                <a:latin typeface="IBM Plex Sans"/>
                <a:ea typeface="IBM Plex Sans"/>
                <a:cs typeface="IBM Plex Sans"/>
              </a:defRPr>
            </a:pPr>
            <a:r>
              <a:rPr sz="1275" b="0">
                <a:solidFill>
                  <a:srgbClr val="596475"/>
                </a:solidFill>
                <a:latin typeface="IBM Plex Sans"/>
                <a:ea typeface="IBM Plex Sans"/>
                <a:cs typeface="IBM Plex Sans"/>
              </a:rPr>
              <a:t>Brandon Dent, MD   /   BIOM 7109/8109</a:t>
            </a:r>
          </a:p>
        </p:txBody>
      </p:sp>
      <p:sp>
        <p:nvSpPr>
          <p:cNvPr id="9" name="3 / 16">
            <a:extLst xmlns:a="http://schemas.openxmlformats.org/drawingml/2006/main">
              <a:ext uri="{FF2B5EF4-FFF2-40B4-BE49-F238E27FC236}">
                <a16:creationId xmlns:a16="http://schemas.microsoft.com/office/drawing/2014/main" id="{43B2810D-6253-45EE-8FFF-D7962D6E9CB0}"/>
              </a:ext>
            </a:extLst>
          </p:cNvPr>
          <p:cNvSpPr>
            <a:spLocks xmlns:a="http://schemas.openxmlformats.org/drawingml/2006/main" noGrp="1"/>
          </p:cNvSpPr>
          <p:nvPr/>
        </p:nvSpPr>
        <p:spPr>
          <a:xfrm xmlns:a="http://schemas.openxmlformats.org/drawingml/2006/main">
            <a:off x="10791825" y="6334125"/>
            <a:ext cx="762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b="0">
                <a:solidFill>
                  <a:srgbClr val="596475"/>
                </a:solidFill>
                <a:latin typeface="IBM Plex Sans"/>
                <a:ea typeface="IBM Plex Sans"/>
                <a:cs typeface="IBM Plex Sans"/>
              </a:defRPr>
            </a:pPr>
            <a:r>
              <a:rPr sz="1275" b="0">
                <a:solidFill>
                  <a:srgbClr val="596475"/>
                </a:solidFill>
                <a:latin typeface="IBM Plex Sans"/>
                <a:ea typeface="IBM Plex Sans"/>
                <a:cs typeface="IBM Plex Sans"/>
              </a:rPr>
              <a:t>3 / 16</a:t>
            </a:r>
          </a:p>
        </p:txBody>
      </p:sp>
    </p:spTree>
    <p:extLst>
      <p:ext uri="{BB962C8B-B14F-4D97-AF65-F5344CB8AC3E}">
        <p14:creationId xmlns:p14="http://schemas.microsoft.com/office/powerpoint/2010/main" val="1392834138"/>
      </p:ext>
    </p:extLst>
  </p:cSld>
</p:sld>
</file>

<file path=ppt/slides/slide4.xml><?xml version="1.0" encoding="utf-8"?>
<p:sld xmlns:p="http://schemas.openxmlformats.org/presentationml/2006/main">
  <p:cSld>
    <p:bg>
      <p:bgPr>
        <a:solidFill xmlns:a="http://schemas.openxmlformats.org/drawingml/2006/main">
          <a:srgbClr val="F5F3ED"/>
        </a:solidFill>
      </p:bgPr>
    </p:bg>
    <p:spTree>
      <p:nvGrpSpPr>
        <p:cNvPr id="1" name=""/>
        <p:cNvGrpSpPr/>
        <p:nvPr/>
      </p:nvGrpSpPr>
      <p:grpSpPr>
        <a:xfrm xmlns:a="http://schemas.openxmlformats.org/drawingml/2006/main"/>
      </p:grpSpPr>
      <p:sp>
        <p:nvSpPr>
          <p:cNvPr id="12" name="slide-title">
            <a:extLst xmlns:a="http://schemas.openxmlformats.org/drawingml/2006/main">
              <a:ext uri="{FF2B5EF4-FFF2-40B4-BE49-F238E27FC236}">
                <a16:creationId xmlns:a16="http://schemas.microsoft.com/office/drawing/2014/main" id="{8A8097F1-2AAD-4E26-93CF-E4AAC2D84C1C}"/>
              </a:ext>
            </a:extLst>
          </p:cNvPr>
          <p:cNvSpPr>
            <a:spLocks xmlns:a="http://schemas.openxmlformats.org/drawingml/2006/main" noGrp="1"/>
          </p:cNvSpPr>
          <p:nvPr/>
        </p:nvSpPr>
        <p:spPr>
          <a:xfrm xmlns:a="http://schemas.openxmlformats.org/drawingml/2006/main">
            <a:off x="762000" y="609600"/>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450" b="1">
                <a:solidFill>
                  <a:srgbClr val="16233E"/>
                </a:solidFill>
                <a:latin typeface="IBM Plex Sans"/>
                <a:ea typeface="IBM Plex Sans"/>
                <a:cs typeface="IBM Plex Sans"/>
              </a:defRPr>
            </a:pPr>
            <a:r>
              <a:rPr sz="3450" b="1">
                <a:solidFill>
                  <a:srgbClr val="16233E"/>
                </a:solidFill>
                <a:latin typeface="IBM Plex Sans"/>
                <a:ea typeface="IBM Plex Sans"/>
                <a:cs typeface="IBM Plex Sans"/>
              </a:rPr>
              <a:t>Four lessons I carry from the ED</a:t>
            </a:r>
          </a:p>
        </p:txBody>
      </p:sp>
      <p:sp>
        <p:nvSpPr>
          <p:cNvPr id="2" name="Volume negates luck">
            <a:extLst xmlns:a="http://schemas.openxmlformats.org/drawingml/2006/main">
              <a:ext uri="{FF2B5EF4-FFF2-40B4-BE49-F238E27FC236}">
                <a16:creationId xmlns:a16="http://schemas.microsoft.com/office/drawing/2014/main" id="{5407CD5C-AEE8-4872-8350-6531344464E5}"/>
              </a:ext>
            </a:extLst>
          </p:cNvPr>
          <p:cNvSpPr>
            <a:spLocks xmlns:a="http://schemas.openxmlformats.org/drawingml/2006/main" noGrp="1"/>
          </p:cNvSpPr>
          <p:nvPr/>
        </p:nvSpPr>
        <p:spPr>
          <a:xfrm xmlns:a="http://schemas.openxmlformats.org/drawingml/2006/main">
            <a:off x="762000" y="1762125"/>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187D73"/>
                </a:solidFill>
                <a:latin typeface="IBM Plex Sans"/>
                <a:ea typeface="IBM Plex Sans"/>
                <a:cs typeface="IBM Plex Sans"/>
              </a:defRPr>
            </a:pPr>
            <a:r>
              <a:rPr sz="2250" b="1">
                <a:solidFill>
                  <a:srgbClr val="187D73"/>
                </a:solidFill>
                <a:latin typeface="IBM Plex Sans"/>
                <a:ea typeface="IBM Plex Sans"/>
                <a:cs typeface="IBM Plex Sans"/>
              </a:rPr>
              <a:t>Volume negates luck</a:t>
            </a:r>
          </a:p>
        </p:txBody>
      </p:sp>
      <p:sp>
        <p:nvSpPr>
          <p:cNvPr id="3" name="More deliberate attempts create more evidence and more ">
            <a:extLst xmlns:a="http://schemas.openxmlformats.org/drawingml/2006/main">
              <a:ext uri="{FF2B5EF4-FFF2-40B4-BE49-F238E27FC236}">
                <a16:creationId xmlns:a16="http://schemas.microsoft.com/office/drawing/2014/main" id="{00B67CD7-CA65-484A-A9A0-79A736B80228}"/>
              </a:ext>
            </a:extLst>
          </p:cNvPr>
          <p:cNvSpPr>
            <a:spLocks xmlns:a="http://schemas.openxmlformats.org/drawingml/2006/main" noGrp="1"/>
          </p:cNvSpPr>
          <p:nvPr/>
        </p:nvSpPr>
        <p:spPr>
          <a:xfrm xmlns:a="http://schemas.openxmlformats.org/drawingml/2006/main">
            <a:off x="762000" y="2162175"/>
            <a:ext cx="10477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6233E"/>
                </a:solidFill>
                <a:latin typeface="IBM Plex Sans"/>
                <a:ea typeface="IBM Plex Sans"/>
                <a:cs typeface="IBM Plex Sans"/>
              </a:defRPr>
            </a:pPr>
            <a:r>
              <a:rPr sz="2025" b="0">
                <a:solidFill>
                  <a:srgbClr val="16233E"/>
                </a:solidFill>
                <a:latin typeface="IBM Plex Sans"/>
                <a:ea typeface="IBM Plex Sans"/>
                <a:cs typeface="IBM Plex Sans"/>
              </a:rPr>
              <a:t>More deliberate attempts create more evidence and more opportunities.</a:t>
            </a:r>
          </a:p>
        </p:txBody>
      </p:sp>
      <p:sp>
        <p:nvSpPr>
          <p:cNvPr id="4" name="Trust but verify">
            <a:extLst xmlns:a="http://schemas.openxmlformats.org/drawingml/2006/main">
              <a:ext uri="{FF2B5EF4-FFF2-40B4-BE49-F238E27FC236}">
                <a16:creationId xmlns:a16="http://schemas.microsoft.com/office/drawing/2014/main" id="{0E092697-7C6E-41E3-87B7-5340C270F23B}"/>
              </a:ext>
            </a:extLst>
          </p:cNvPr>
          <p:cNvSpPr>
            <a:spLocks xmlns:a="http://schemas.openxmlformats.org/drawingml/2006/main" noGrp="1"/>
          </p:cNvSpPr>
          <p:nvPr/>
        </p:nvSpPr>
        <p:spPr>
          <a:xfrm xmlns:a="http://schemas.openxmlformats.org/drawingml/2006/main">
            <a:off x="762000" y="2828925"/>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187D73"/>
                </a:solidFill>
                <a:latin typeface="IBM Plex Sans"/>
                <a:ea typeface="IBM Plex Sans"/>
                <a:cs typeface="IBM Plex Sans"/>
              </a:defRPr>
            </a:pPr>
            <a:r>
              <a:rPr sz="2250" b="1">
                <a:solidFill>
                  <a:srgbClr val="187D73"/>
                </a:solidFill>
                <a:latin typeface="IBM Plex Sans"/>
                <a:ea typeface="IBM Plex Sans"/>
                <a:cs typeface="IBM Plex Sans"/>
              </a:rPr>
              <a:t>Trust but verify</a:t>
            </a:r>
          </a:p>
        </p:txBody>
      </p:sp>
      <p:sp>
        <p:nvSpPr>
          <p:cNvPr id="5" name="Check the source, the measurement and the decision that">
            <a:extLst xmlns:a="http://schemas.openxmlformats.org/drawingml/2006/main">
              <a:ext uri="{FF2B5EF4-FFF2-40B4-BE49-F238E27FC236}">
                <a16:creationId xmlns:a16="http://schemas.microsoft.com/office/drawing/2014/main" id="{7BF0B2D0-78CA-4C85-9E69-F1ECD8A86707}"/>
              </a:ext>
            </a:extLst>
          </p:cNvPr>
          <p:cNvSpPr>
            <a:spLocks xmlns:a="http://schemas.openxmlformats.org/drawingml/2006/main" noGrp="1"/>
          </p:cNvSpPr>
          <p:nvPr/>
        </p:nvSpPr>
        <p:spPr>
          <a:xfrm xmlns:a="http://schemas.openxmlformats.org/drawingml/2006/main">
            <a:off x="762000" y="3228975"/>
            <a:ext cx="10477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6233E"/>
                </a:solidFill>
                <a:latin typeface="IBM Plex Sans"/>
                <a:ea typeface="IBM Plex Sans"/>
                <a:cs typeface="IBM Plex Sans"/>
              </a:defRPr>
            </a:pPr>
            <a:r>
              <a:rPr sz="2025" b="0">
                <a:solidFill>
                  <a:srgbClr val="16233E"/>
                </a:solidFill>
                <a:latin typeface="IBM Plex Sans"/>
                <a:ea typeface="IBM Plex Sans"/>
                <a:cs typeface="IBM Plex Sans"/>
              </a:rPr>
              <a:t>Check the source, the measurement and the decision that follows.</a:t>
            </a:r>
          </a:p>
        </p:txBody>
      </p:sp>
      <p:sp>
        <p:nvSpPr>
          <p:cNvPr id="6" name="Slow is smooth and smooth is fast">
            <a:extLst xmlns:a="http://schemas.openxmlformats.org/drawingml/2006/main">
              <a:ext uri="{FF2B5EF4-FFF2-40B4-BE49-F238E27FC236}">
                <a16:creationId xmlns:a16="http://schemas.microsoft.com/office/drawing/2014/main" id="{A3C80601-E22C-4B59-8DCD-CFA0B48A2715}"/>
              </a:ext>
            </a:extLst>
          </p:cNvPr>
          <p:cNvSpPr>
            <a:spLocks xmlns:a="http://schemas.openxmlformats.org/drawingml/2006/main" noGrp="1"/>
          </p:cNvSpPr>
          <p:nvPr/>
        </p:nvSpPr>
        <p:spPr>
          <a:xfrm xmlns:a="http://schemas.openxmlformats.org/drawingml/2006/main">
            <a:off x="762000" y="3895725"/>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187D73"/>
                </a:solidFill>
                <a:latin typeface="IBM Plex Sans"/>
                <a:ea typeface="IBM Plex Sans"/>
                <a:cs typeface="IBM Plex Sans"/>
              </a:defRPr>
            </a:pPr>
            <a:r>
              <a:rPr sz="2250" b="1">
                <a:solidFill>
                  <a:srgbClr val="187D73"/>
                </a:solidFill>
                <a:latin typeface="IBM Plex Sans"/>
                <a:ea typeface="IBM Plex Sans"/>
                <a:cs typeface="IBM Plex Sans"/>
              </a:rPr>
              <a:t>Slow is smooth and smooth is fast</a:t>
            </a:r>
          </a:p>
        </p:txBody>
      </p:sp>
      <p:sp>
        <p:nvSpPr>
          <p:cNvPr id="7" name="Define the sequence, rehearse it, then reduce wasted ef">
            <a:extLst xmlns:a="http://schemas.openxmlformats.org/drawingml/2006/main">
              <a:ext uri="{FF2B5EF4-FFF2-40B4-BE49-F238E27FC236}">
                <a16:creationId xmlns:a16="http://schemas.microsoft.com/office/drawing/2014/main" id="{46940F0A-8A4E-4EA0-B7D7-4E1AD7F6A88D}"/>
              </a:ext>
            </a:extLst>
          </p:cNvPr>
          <p:cNvSpPr>
            <a:spLocks xmlns:a="http://schemas.openxmlformats.org/drawingml/2006/main" noGrp="1"/>
          </p:cNvSpPr>
          <p:nvPr/>
        </p:nvSpPr>
        <p:spPr>
          <a:xfrm xmlns:a="http://schemas.openxmlformats.org/drawingml/2006/main">
            <a:off x="762000" y="4295775"/>
            <a:ext cx="10477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6233E"/>
                </a:solidFill>
                <a:latin typeface="IBM Plex Sans"/>
                <a:ea typeface="IBM Plex Sans"/>
                <a:cs typeface="IBM Plex Sans"/>
              </a:defRPr>
            </a:pPr>
            <a:r>
              <a:rPr sz="2025" b="0">
                <a:solidFill>
                  <a:srgbClr val="16233E"/>
                </a:solidFill>
                <a:latin typeface="IBM Plex Sans"/>
                <a:ea typeface="IBM Plex Sans"/>
                <a:cs typeface="IBM Plex Sans"/>
              </a:rPr>
              <a:t>Define the sequence, rehearse it, then reduce wasted effort.</a:t>
            </a:r>
          </a:p>
        </p:txBody>
      </p:sp>
      <p:sp>
        <p:nvSpPr>
          <p:cNvPr id="8" name="“Be so good you can’t be ignored.”">
            <a:extLst xmlns:a="http://schemas.openxmlformats.org/drawingml/2006/main">
              <a:ext uri="{FF2B5EF4-FFF2-40B4-BE49-F238E27FC236}">
                <a16:creationId xmlns:a16="http://schemas.microsoft.com/office/drawing/2014/main" id="{18F28DA8-BDB6-4F5E-8467-6179A82337C3}"/>
              </a:ext>
            </a:extLst>
          </p:cNvPr>
          <p:cNvSpPr>
            <a:spLocks xmlns:a="http://schemas.openxmlformats.org/drawingml/2006/main" noGrp="1"/>
          </p:cNvSpPr>
          <p:nvPr/>
        </p:nvSpPr>
        <p:spPr>
          <a:xfrm xmlns:a="http://schemas.openxmlformats.org/drawingml/2006/main">
            <a:off x="762000" y="4962525"/>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FF249C"/>
                </a:solidFill>
                <a:latin typeface="IBM Plex Sans"/>
                <a:ea typeface="IBM Plex Sans"/>
                <a:cs typeface="IBM Plex Sans"/>
              </a:defRPr>
            </a:pPr>
            <a:r>
              <a:rPr sz="2250" b="1">
                <a:solidFill>
                  <a:srgbClr val="FF249C"/>
                </a:solidFill>
                <a:latin typeface="IBM Plex Sans"/>
                <a:ea typeface="IBM Plex Sans"/>
                <a:cs typeface="IBM Plex Sans"/>
              </a:rPr>
              <a:t>“Be so good you can’t be ignored.”</a:t>
            </a:r>
          </a:p>
        </p:txBody>
      </p:sp>
      <p:sp>
        <p:nvSpPr>
          <p:cNvPr id="9" name="Make the quality of your work easy for another person t">
            <a:extLst xmlns:a="http://schemas.openxmlformats.org/drawingml/2006/main">
              <a:ext uri="{FF2B5EF4-FFF2-40B4-BE49-F238E27FC236}">
                <a16:creationId xmlns:a16="http://schemas.microsoft.com/office/drawing/2014/main" id="{3F607967-5E88-405E-8561-0938F004C6AD}"/>
              </a:ext>
            </a:extLst>
          </p:cNvPr>
          <p:cNvSpPr>
            <a:spLocks xmlns:a="http://schemas.openxmlformats.org/drawingml/2006/main" noGrp="1"/>
          </p:cNvSpPr>
          <p:nvPr/>
        </p:nvSpPr>
        <p:spPr>
          <a:xfrm xmlns:a="http://schemas.openxmlformats.org/drawingml/2006/main">
            <a:off x="762000" y="5362575"/>
            <a:ext cx="10477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6233E"/>
                </a:solidFill>
                <a:latin typeface="IBM Plex Sans"/>
                <a:ea typeface="IBM Plex Sans"/>
                <a:cs typeface="IBM Plex Sans"/>
              </a:defRPr>
            </a:pPr>
            <a:r>
              <a:rPr sz="2025" b="0">
                <a:solidFill>
                  <a:srgbClr val="16233E"/>
                </a:solidFill>
                <a:latin typeface="IBM Plex Sans"/>
                <a:ea typeface="IBM Plex Sans"/>
                <a:cs typeface="IBM Plex Sans"/>
              </a:rPr>
              <a:t>Make the quality of your work easy for another person to inspect.</a:t>
            </a:r>
          </a:p>
        </p:txBody>
      </p:sp>
      <p:sp>
        <p:nvSpPr>
          <p:cNvPr id="10" name="Brandon Dent, MD   /   BIOM 7109/8109">
            <a:extLst xmlns:a="http://schemas.openxmlformats.org/drawingml/2006/main">
              <a:ext uri="{FF2B5EF4-FFF2-40B4-BE49-F238E27FC236}">
                <a16:creationId xmlns:a16="http://schemas.microsoft.com/office/drawing/2014/main" id="{7EA2EA6F-2F63-4E24-8598-2A12B56FFE90}"/>
              </a:ext>
            </a:extLst>
          </p:cNvPr>
          <p:cNvSpPr>
            <a:spLocks xmlns:a="http://schemas.openxmlformats.org/drawingml/2006/main" noGrp="1"/>
          </p:cNvSpPr>
          <p:nvPr/>
        </p:nvSpPr>
        <p:spPr>
          <a:xfrm xmlns:a="http://schemas.openxmlformats.org/drawingml/2006/main">
            <a:off x="762000" y="6334125"/>
            <a:ext cx="981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b="0">
                <a:solidFill>
                  <a:srgbClr val="596475"/>
                </a:solidFill>
                <a:latin typeface="IBM Plex Sans"/>
                <a:ea typeface="IBM Plex Sans"/>
                <a:cs typeface="IBM Plex Sans"/>
              </a:defRPr>
            </a:pPr>
            <a:r>
              <a:rPr sz="1275" b="0">
                <a:solidFill>
                  <a:srgbClr val="596475"/>
                </a:solidFill>
                <a:latin typeface="IBM Plex Sans"/>
                <a:ea typeface="IBM Plex Sans"/>
                <a:cs typeface="IBM Plex Sans"/>
              </a:rPr>
              <a:t>Brandon Dent, MD   /   BIOM 7109/8109</a:t>
            </a:r>
          </a:p>
        </p:txBody>
      </p:sp>
      <p:sp>
        <p:nvSpPr>
          <p:cNvPr id="11" name="4 / 16">
            <a:extLst xmlns:a="http://schemas.openxmlformats.org/drawingml/2006/main">
              <a:ext uri="{FF2B5EF4-FFF2-40B4-BE49-F238E27FC236}">
                <a16:creationId xmlns:a16="http://schemas.microsoft.com/office/drawing/2014/main" id="{88893378-53FB-4E9D-BD53-486DF16D342F}"/>
              </a:ext>
            </a:extLst>
          </p:cNvPr>
          <p:cNvSpPr>
            <a:spLocks xmlns:a="http://schemas.openxmlformats.org/drawingml/2006/main" noGrp="1"/>
          </p:cNvSpPr>
          <p:nvPr/>
        </p:nvSpPr>
        <p:spPr>
          <a:xfrm xmlns:a="http://schemas.openxmlformats.org/drawingml/2006/main">
            <a:off x="10791825" y="6334125"/>
            <a:ext cx="762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b="0">
                <a:solidFill>
                  <a:srgbClr val="596475"/>
                </a:solidFill>
                <a:latin typeface="IBM Plex Sans"/>
                <a:ea typeface="IBM Plex Sans"/>
                <a:cs typeface="IBM Plex Sans"/>
              </a:defRPr>
            </a:pPr>
            <a:r>
              <a:rPr sz="1275" b="0">
                <a:solidFill>
                  <a:srgbClr val="596475"/>
                </a:solidFill>
                <a:latin typeface="IBM Plex Sans"/>
                <a:ea typeface="IBM Plex Sans"/>
                <a:cs typeface="IBM Plex Sans"/>
              </a:rPr>
              <a:t>4 / 16</a:t>
            </a:r>
          </a:p>
        </p:txBody>
      </p:sp>
    </p:spTree>
    <p:extLst>
      <p:ext uri="{BB962C8B-B14F-4D97-AF65-F5344CB8AC3E}">
        <p14:creationId xmlns:p14="http://schemas.microsoft.com/office/powerpoint/2010/main" val="204302046"/>
      </p:ext>
    </p:extLst>
  </p:cSld>
</p:sld>
</file>

<file path=ppt/slides/slide5.xml><?xml version="1.0" encoding="utf-8"?>
<p:sld xmlns:p="http://schemas.openxmlformats.org/presentationml/2006/main">
  <p:cSld>
    <p:bg>
      <p:bgPr>
        <a:solidFill xmlns:a="http://schemas.openxmlformats.org/drawingml/2006/main">
          <a:srgbClr val="F5F3ED"/>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6E7244BA-567A-4D4C-B1E5-60A40C1069D1}"/>
              </a:ext>
            </a:extLst>
          </p:cNvPr>
          <p:cNvSpPr>
            <a:spLocks xmlns:a="http://schemas.openxmlformats.org/drawingml/2006/main" noGrp="1"/>
          </p:cNvSpPr>
          <p:nvPr/>
        </p:nvSpPr>
        <p:spPr>
          <a:xfrm xmlns:a="http://schemas.openxmlformats.org/drawingml/2006/main">
            <a:off x="762000" y="609600"/>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450" b="1">
                <a:solidFill>
                  <a:srgbClr val="16233E"/>
                </a:solidFill>
                <a:latin typeface="IBM Plex Sans"/>
                <a:ea typeface="IBM Plex Sans"/>
                <a:cs typeface="IBM Plex Sans"/>
              </a:defRPr>
            </a:pPr>
            <a:r>
              <a:rPr sz="3450" b="1">
                <a:solidFill>
                  <a:srgbClr val="16233E"/>
                </a:solidFill>
                <a:latin typeface="IBM Plex Sans"/>
                <a:ea typeface="IBM Plex Sans"/>
                <a:cs typeface="IBM Plex Sans"/>
              </a:rPr>
              <a:t>Small error rates accumulate at scale</a:t>
            </a:r>
          </a:p>
        </p:txBody>
      </p:sp>
      <p:sp>
        <p:nvSpPr>
          <p:cNvPr id="2" name="Hypothetical workload: 100,000 decisions">
            <a:extLst xmlns:a="http://schemas.openxmlformats.org/drawingml/2006/main">
              <a:ext uri="{FF2B5EF4-FFF2-40B4-BE49-F238E27FC236}">
                <a16:creationId xmlns:a16="http://schemas.microsoft.com/office/drawing/2014/main" id="{4FBCFC78-3FBF-43C8-8216-6DB6E14D687D}"/>
              </a:ext>
            </a:extLst>
          </p:cNvPr>
          <p:cNvSpPr>
            <a:spLocks xmlns:a="http://schemas.openxmlformats.org/drawingml/2006/main" noGrp="1"/>
          </p:cNvSpPr>
          <p:nvPr/>
        </p:nvSpPr>
        <p:spPr>
          <a:xfrm xmlns:a="http://schemas.openxmlformats.org/drawingml/2006/main">
            <a:off x="762000" y="1704975"/>
            <a:ext cx="1057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1">
                <a:solidFill>
                  <a:srgbClr val="16233E"/>
                </a:solidFill>
                <a:latin typeface="IBM Plex Sans"/>
                <a:ea typeface="IBM Plex Sans"/>
                <a:cs typeface="IBM Plex Sans"/>
              </a:defRPr>
            </a:pPr>
            <a:r>
              <a:rPr sz="2550" b="1">
                <a:solidFill>
                  <a:srgbClr val="16233E"/>
                </a:solidFill>
                <a:latin typeface="IBM Plex Sans"/>
                <a:ea typeface="IBM Plex Sans"/>
                <a:cs typeface="IBM Plex Sans"/>
              </a:rPr>
              <a:t>Hypothetical workload: 100,000 decisions</a:t>
            </a:r>
          </a:p>
        </p:txBody>
      </p:sp>
      <p:graphicFrame>
        <p:nvGraphicFramePr>
          <p:cNvPr id="9" name=""/>
          <p:cNvGraphicFramePr/>
          <p:nvPr/>
        </p:nvGraphicFramePr>
        <p:xfrm>
          <a:off xmlns:a="http://schemas.openxmlformats.org/drawingml/2006/main" x="762000" y="2486025"/>
          <a:ext xmlns:a="http://schemas.openxmlformats.org/drawingml/2006/main" cx="10668000" cy="2914650"/>
        </p:xfrm>
        <a:graphic xmlns:a="http://schemas.openxmlformats.org/drawingml/2006/main">
          <a:graphicData uri="http://schemas.openxmlformats.org/drawingml/2006/table">
            <a:tbl>
              <a:tblPr/>
              <a:tblGrid>
                <a:gridCol w="6477000"/>
                <a:gridCol w="4191000"/>
              </a:tblGrid>
              <a:tr h="582930">
                <a:tc>
                  <a:txBody>
                    <a:bodyPr wrap="square">
                      <a:noAutofit/>
                    </a:bodyPr>
                    <a:lstStyle/>
                    <a:p>
                      <a:r>
                        <a:rPr sz="1950" b="1">
                          <a:solidFill>
                            <a:srgbClr val="FFFFFF"/>
                          </a:solidFill>
                          <a:latin typeface="IBM Plex Sans"/>
                          <a:ea typeface="IBM Plex Sans"/>
                          <a:cs typeface="IBM Plex Sans"/>
                        </a:rPr>
                        <a:t>Per-decision error rate</a:t>
                      </a:r>
                    </a:p>
                  </a:txBody>
                  <a:tcPr marL="91440" marR="91440" marT="45720" marB="45720">
                    <a:solidFill>
                      <a:srgbClr val="16233E"/>
                    </a:solidFill>
                  </a:tcPr>
                </a:tc>
                <a:tc>
                  <a:txBody>
                    <a:bodyPr wrap="square">
                      <a:noAutofit/>
                    </a:bodyPr>
                    <a:lstStyle/>
                    <a:p>
                      <a:r>
                        <a:rPr sz="1950" b="1">
                          <a:solidFill>
                            <a:srgbClr val="FFFFFF"/>
                          </a:solidFill>
                          <a:latin typeface="IBM Plex Sans"/>
                          <a:ea typeface="IBM Plex Sans"/>
                          <a:cs typeface="IBM Plex Sans"/>
                        </a:rPr>
                        <a:t>Expected errors</a:t>
                      </a:r>
                    </a:p>
                  </a:txBody>
                  <a:tcPr marL="91440" marR="91440" marT="45720" marB="45720">
                    <a:solidFill>
                      <a:srgbClr val="16233E"/>
                    </a:solidFill>
                  </a:tcPr>
                </a:tc>
              </a:tr>
              <a:tr h="582930">
                <a:tc>
                  <a:txBody>
                    <a:bodyPr wrap="square">
                      <a:noAutofit/>
                    </a:bodyPr>
                    <a:lstStyle/>
                    <a:p>
                      <a:r>
                        <a:rPr sz="1950" b="0">
                          <a:solidFill>
                            <a:srgbClr val="16233E"/>
                          </a:solidFill>
                          <a:latin typeface="IBM Plex Sans"/>
                          <a:ea typeface="IBM Plex Sans"/>
                          <a:cs typeface="IBM Plex Sans"/>
                        </a:rPr>
                        <a:t>1%</a:t>
                      </a:r>
                    </a:p>
                  </a:txBody>
                  <a:tcPr marL="91440" marR="91440" marT="45720" marB="45720">
                    <a:solidFill>
                      <a:srgbClr val="FFFFFF"/>
                    </a:solidFill>
                  </a:tcPr>
                </a:tc>
                <a:tc>
                  <a:txBody>
                    <a:bodyPr wrap="square">
                      <a:noAutofit/>
                    </a:bodyPr>
                    <a:lstStyle/>
                    <a:p>
                      <a:r>
                        <a:rPr sz="1950" b="0">
                          <a:solidFill>
                            <a:srgbClr val="16233E"/>
                          </a:solidFill>
                          <a:latin typeface="IBM Plex Sans"/>
                          <a:ea typeface="IBM Plex Sans"/>
                          <a:cs typeface="IBM Plex Sans"/>
                        </a:rPr>
                        <a:t>1,000</a:t>
                      </a:r>
                    </a:p>
                  </a:txBody>
                  <a:tcPr marL="91440" marR="91440" marT="45720" marB="45720">
                    <a:solidFill>
                      <a:srgbClr val="FFFFFF"/>
                    </a:solidFill>
                  </a:tcPr>
                </a:tc>
              </a:tr>
              <a:tr h="582930">
                <a:tc>
                  <a:txBody>
                    <a:bodyPr wrap="square">
                      <a:noAutofit/>
                    </a:bodyPr>
                    <a:lstStyle/>
                    <a:p>
                      <a:r>
                        <a:rPr sz="1950" b="0">
                          <a:solidFill>
                            <a:srgbClr val="16233E"/>
                          </a:solidFill>
                          <a:latin typeface="IBM Plex Sans"/>
                          <a:ea typeface="IBM Plex Sans"/>
                          <a:cs typeface="IBM Plex Sans"/>
                        </a:rPr>
                        <a:t>0.1%</a:t>
                      </a:r>
                    </a:p>
                  </a:txBody>
                  <a:tcPr marL="91440" marR="91440" marT="45720" marB="45720">
                    <a:solidFill>
                      <a:srgbClr val="F5F3ED"/>
                    </a:solidFill>
                  </a:tcPr>
                </a:tc>
                <a:tc>
                  <a:txBody>
                    <a:bodyPr wrap="square">
                      <a:noAutofit/>
                    </a:bodyPr>
                    <a:lstStyle/>
                    <a:p>
                      <a:r>
                        <a:rPr sz="1950" b="0">
                          <a:solidFill>
                            <a:srgbClr val="16233E"/>
                          </a:solidFill>
                          <a:latin typeface="IBM Plex Sans"/>
                          <a:ea typeface="IBM Plex Sans"/>
                          <a:cs typeface="IBM Plex Sans"/>
                        </a:rPr>
                        <a:t>100</a:t>
                      </a:r>
                    </a:p>
                  </a:txBody>
                  <a:tcPr marL="91440" marR="91440" marT="45720" marB="45720">
                    <a:solidFill>
                      <a:srgbClr val="F5F3ED"/>
                    </a:solidFill>
                  </a:tcPr>
                </a:tc>
              </a:tr>
              <a:tr h="582930">
                <a:tc>
                  <a:txBody>
                    <a:bodyPr wrap="square">
                      <a:noAutofit/>
                    </a:bodyPr>
                    <a:lstStyle/>
                    <a:p>
                      <a:r>
                        <a:rPr sz="1950" b="0">
                          <a:solidFill>
                            <a:srgbClr val="16233E"/>
                          </a:solidFill>
                          <a:latin typeface="IBM Plex Sans"/>
                          <a:ea typeface="IBM Plex Sans"/>
                          <a:cs typeface="IBM Plex Sans"/>
                        </a:rPr>
                        <a:t>0.01%</a:t>
                      </a:r>
                    </a:p>
                  </a:txBody>
                  <a:tcPr marL="91440" marR="91440" marT="45720" marB="45720">
                    <a:solidFill>
                      <a:srgbClr val="FFFFFF"/>
                    </a:solidFill>
                  </a:tcPr>
                </a:tc>
                <a:tc>
                  <a:txBody>
                    <a:bodyPr wrap="square">
                      <a:noAutofit/>
                    </a:bodyPr>
                    <a:lstStyle/>
                    <a:p>
                      <a:r>
                        <a:rPr sz="1950" b="0">
                          <a:solidFill>
                            <a:srgbClr val="16233E"/>
                          </a:solidFill>
                          <a:latin typeface="IBM Plex Sans"/>
                          <a:ea typeface="IBM Plex Sans"/>
                          <a:cs typeface="IBM Plex Sans"/>
                        </a:rPr>
                        <a:t>10</a:t>
                      </a:r>
                    </a:p>
                  </a:txBody>
                  <a:tcPr marL="91440" marR="91440" marT="45720" marB="45720">
                    <a:solidFill>
                      <a:srgbClr val="FFFFFF"/>
                    </a:solidFill>
                  </a:tcPr>
                </a:tc>
              </a:tr>
              <a:tr h="582930">
                <a:tc>
                  <a:txBody>
                    <a:bodyPr wrap="square">
                      <a:noAutofit/>
                    </a:bodyPr>
                    <a:lstStyle/>
                    <a:p>
                      <a:r>
                        <a:rPr sz="1950" b="0">
                          <a:solidFill>
                            <a:srgbClr val="16233E"/>
                          </a:solidFill>
                          <a:latin typeface="IBM Plex Sans"/>
                          <a:ea typeface="IBM Plex Sans"/>
                          <a:cs typeface="IBM Plex Sans"/>
                        </a:rPr>
                        <a:t>0.001%</a:t>
                      </a:r>
                    </a:p>
                  </a:txBody>
                  <a:tcPr marL="91440" marR="91440" marT="45720" marB="45720">
                    <a:solidFill>
                      <a:srgbClr val="F5F3ED"/>
                    </a:solidFill>
                  </a:tcPr>
                </a:tc>
                <a:tc>
                  <a:txBody>
                    <a:bodyPr wrap="square">
                      <a:noAutofit/>
                    </a:bodyPr>
                    <a:lstStyle/>
                    <a:p>
                      <a:r>
                        <a:rPr sz="1950" b="0">
                          <a:solidFill>
                            <a:srgbClr val="16233E"/>
                          </a:solidFill>
                          <a:latin typeface="IBM Plex Sans"/>
                          <a:ea typeface="IBM Plex Sans"/>
                          <a:cs typeface="IBM Plex Sans"/>
                        </a:rPr>
                        <a:t>1</a:t>
                      </a:r>
                    </a:p>
                  </a:txBody>
                  <a:tcPr marL="91440" marR="91440" marT="45720" marB="45720">
                    <a:solidFill>
                      <a:srgbClr val="F5F3ED"/>
                    </a:solidFill>
                  </a:tcPr>
                </a:tc>
              </a:tr>
            </a:tbl>
          </a:graphicData>
        </a:graphic>
      </p:graphicFrame>
      <p:sp>
        <p:nvSpPr>
          <p:cNvPr id="4" name="Severity, context and recovery determine the consequenc">
            <a:extLst xmlns:a="http://schemas.openxmlformats.org/drawingml/2006/main">
              <a:ext uri="{FF2B5EF4-FFF2-40B4-BE49-F238E27FC236}">
                <a16:creationId xmlns:a16="http://schemas.microsoft.com/office/drawing/2014/main" id="{F472CEAB-7356-4DF8-B609-E21B85D5A621}"/>
              </a:ext>
            </a:extLst>
          </p:cNvPr>
          <p:cNvSpPr>
            <a:spLocks xmlns:a="http://schemas.openxmlformats.org/drawingml/2006/main" noGrp="1"/>
          </p:cNvSpPr>
          <p:nvPr/>
        </p:nvSpPr>
        <p:spPr>
          <a:xfrm xmlns:a="http://schemas.openxmlformats.org/drawingml/2006/main">
            <a:off x="762000" y="5676900"/>
            <a:ext cx="105727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87D73"/>
                </a:solidFill>
                <a:latin typeface="IBM Plex Sans"/>
                <a:ea typeface="IBM Plex Sans"/>
                <a:cs typeface="IBM Plex Sans"/>
              </a:defRPr>
            </a:pPr>
            <a:r>
              <a:rPr sz="2175" b="1">
                <a:solidFill>
                  <a:srgbClr val="187D73"/>
                </a:solidFill>
                <a:latin typeface="IBM Plex Sans"/>
                <a:ea typeface="IBM Plex Sans"/>
                <a:cs typeface="IBM Plex Sans"/>
              </a:rPr>
              <a:t>Severity, context and recovery determine the consequence.</a:t>
            </a:r>
          </a:p>
        </p:txBody>
      </p:sp>
      <p:sp>
        <p:nvSpPr>
          <p:cNvPr id="5" name="Brandon Dent, MD   /   BIOM 7109/8109">
            <a:extLst xmlns:a="http://schemas.openxmlformats.org/drawingml/2006/main">
              <a:ext uri="{FF2B5EF4-FFF2-40B4-BE49-F238E27FC236}">
                <a16:creationId xmlns:a16="http://schemas.microsoft.com/office/drawing/2014/main" id="{402856CA-2A04-465B-885B-C77BB29B7C77}"/>
              </a:ext>
            </a:extLst>
          </p:cNvPr>
          <p:cNvSpPr>
            <a:spLocks xmlns:a="http://schemas.openxmlformats.org/drawingml/2006/main" noGrp="1"/>
          </p:cNvSpPr>
          <p:nvPr/>
        </p:nvSpPr>
        <p:spPr>
          <a:xfrm xmlns:a="http://schemas.openxmlformats.org/drawingml/2006/main">
            <a:off x="762000" y="6334125"/>
            <a:ext cx="981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b="0">
                <a:solidFill>
                  <a:srgbClr val="596475"/>
                </a:solidFill>
                <a:latin typeface="IBM Plex Sans"/>
                <a:ea typeface="IBM Plex Sans"/>
                <a:cs typeface="IBM Plex Sans"/>
              </a:defRPr>
            </a:pPr>
            <a:r>
              <a:rPr sz="1275" b="0">
                <a:solidFill>
                  <a:srgbClr val="596475"/>
                </a:solidFill>
                <a:latin typeface="IBM Plex Sans"/>
                <a:ea typeface="IBM Plex Sans"/>
                <a:cs typeface="IBM Plex Sans"/>
              </a:rPr>
              <a:t>Brandon Dent, MD   /   BIOM 7109/8109</a:t>
            </a:r>
          </a:p>
        </p:txBody>
      </p:sp>
      <p:sp>
        <p:nvSpPr>
          <p:cNvPr id="6" name="5 / 16">
            <a:extLst xmlns:a="http://schemas.openxmlformats.org/drawingml/2006/main">
              <a:ext uri="{FF2B5EF4-FFF2-40B4-BE49-F238E27FC236}">
                <a16:creationId xmlns:a16="http://schemas.microsoft.com/office/drawing/2014/main" id="{5FCDEB3B-4F70-48F2-ADA6-B366D77FC49C}"/>
              </a:ext>
            </a:extLst>
          </p:cNvPr>
          <p:cNvSpPr>
            <a:spLocks xmlns:a="http://schemas.openxmlformats.org/drawingml/2006/main" noGrp="1"/>
          </p:cNvSpPr>
          <p:nvPr/>
        </p:nvSpPr>
        <p:spPr>
          <a:xfrm xmlns:a="http://schemas.openxmlformats.org/drawingml/2006/main">
            <a:off x="10791825" y="6334125"/>
            <a:ext cx="762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b="0">
                <a:solidFill>
                  <a:srgbClr val="596475"/>
                </a:solidFill>
                <a:latin typeface="IBM Plex Sans"/>
                <a:ea typeface="IBM Plex Sans"/>
                <a:cs typeface="IBM Plex Sans"/>
              </a:defRPr>
            </a:pPr>
            <a:r>
              <a:rPr sz="1275" b="0">
                <a:solidFill>
                  <a:srgbClr val="596475"/>
                </a:solidFill>
                <a:latin typeface="IBM Plex Sans"/>
                <a:ea typeface="IBM Plex Sans"/>
                <a:cs typeface="IBM Plex Sans"/>
              </a:rPr>
              <a:t>5 / 16</a:t>
            </a:r>
          </a:p>
        </p:txBody>
      </p:sp>
    </p:spTree>
    <p:extLst>
      <p:ext uri="{BB962C8B-B14F-4D97-AF65-F5344CB8AC3E}">
        <p14:creationId xmlns:p14="http://schemas.microsoft.com/office/powerpoint/2010/main" val="1961943126"/>
      </p:ext>
    </p:extLst>
  </p:cSld>
</p:sld>
</file>

<file path=ppt/slides/slide6.xml><?xml version="1.0" encoding="utf-8"?>
<p:sld xmlns:p="http://schemas.openxmlformats.org/presentationml/2006/main">
  <p:cSld>
    <p:bg>
      <p:bgPr>
        <a:solidFill xmlns:a="http://schemas.openxmlformats.org/drawingml/2006/main">
          <a:srgbClr val="F5F3ED"/>
        </a:solidFill>
      </p:bgPr>
    </p:bg>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D9F6E9C2-6313-46FE-BC0D-9690993A556D}"/>
              </a:ext>
            </a:extLst>
          </p:cNvPr>
          <p:cNvSpPr>
            <a:spLocks xmlns:a="http://schemas.openxmlformats.org/drawingml/2006/main" noGrp="1"/>
          </p:cNvSpPr>
          <p:nvPr/>
        </p:nvSpPr>
        <p:spPr>
          <a:xfrm xmlns:a="http://schemas.openxmlformats.org/drawingml/2006/main">
            <a:off x="762000" y="609600"/>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450" b="1">
                <a:solidFill>
                  <a:srgbClr val="16233E"/>
                </a:solidFill>
                <a:latin typeface="IBM Plex Sans"/>
                <a:ea typeface="IBM Plex Sans"/>
                <a:cs typeface="IBM Plex Sans"/>
              </a:defRPr>
            </a:pPr>
            <a:r>
              <a:rPr sz="3450" b="1">
                <a:solidFill>
                  <a:srgbClr val="16233E"/>
                </a:solidFill>
                <a:latin typeface="IBM Plex Sans"/>
                <a:ea typeface="IBM Plex Sans"/>
                <a:cs typeface="IBM Plex Sans"/>
              </a:rPr>
              <a:t>Model, system and evidence</a:t>
            </a:r>
          </a:p>
        </p:txBody>
      </p:sp>
      <p:sp>
        <p:nvSpPr>
          <p:cNvPr id="2" name="MODEL">
            <a:extLst xmlns:a="http://schemas.openxmlformats.org/drawingml/2006/main">
              <a:ext uri="{FF2B5EF4-FFF2-40B4-BE49-F238E27FC236}">
                <a16:creationId xmlns:a16="http://schemas.microsoft.com/office/drawing/2014/main" id="{96902232-ED1E-4CA5-AF03-4EBB841E8A1A}"/>
              </a:ext>
            </a:extLst>
          </p:cNvPr>
          <p:cNvSpPr>
            <a:spLocks xmlns:a="http://schemas.openxmlformats.org/drawingml/2006/main" noGrp="1"/>
          </p:cNvSpPr>
          <p:nvPr/>
        </p:nvSpPr>
        <p:spPr>
          <a:xfrm xmlns:a="http://schemas.openxmlformats.org/drawingml/2006/main">
            <a:off x="762000" y="1762125"/>
            <a:ext cx="5000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87D73"/>
                </a:solidFill>
                <a:latin typeface="IBM Plex Sans"/>
                <a:ea typeface="IBM Plex Sans"/>
                <a:cs typeface="IBM Plex Sans"/>
              </a:defRPr>
            </a:pPr>
            <a:r>
              <a:rPr sz="2175" b="1">
                <a:solidFill>
                  <a:srgbClr val="187D73"/>
                </a:solidFill>
                <a:latin typeface="IBM Plex Sans"/>
                <a:ea typeface="IBM Plex Sans"/>
                <a:cs typeface="IBM Plex Sans"/>
              </a:rPr>
              <a:t>MODEL</a:t>
            </a:r>
          </a:p>
        </p:txBody>
      </p:sp>
      <p:sp>
        <p:nvSpPr>
          <p:cNvPr id="3" name="The component that generates an answer.">
            <a:extLst xmlns:a="http://schemas.openxmlformats.org/drawingml/2006/main">
              <a:ext uri="{FF2B5EF4-FFF2-40B4-BE49-F238E27FC236}">
                <a16:creationId xmlns:a16="http://schemas.microsoft.com/office/drawing/2014/main" id="{FAB02F9D-F2A7-4C95-8678-AE2EEBC33FAB}"/>
              </a:ext>
            </a:extLst>
          </p:cNvPr>
          <p:cNvSpPr>
            <a:spLocks xmlns:a="http://schemas.openxmlformats.org/drawingml/2006/main" noGrp="1"/>
          </p:cNvSpPr>
          <p:nvPr/>
        </p:nvSpPr>
        <p:spPr>
          <a:xfrm xmlns:a="http://schemas.openxmlformats.org/drawingml/2006/main">
            <a:off x="762000" y="2219325"/>
            <a:ext cx="500062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6233E"/>
                </a:solidFill>
                <a:latin typeface="IBM Plex Sans"/>
                <a:ea typeface="IBM Plex Sans"/>
                <a:cs typeface="IBM Plex Sans"/>
              </a:defRPr>
            </a:pPr>
            <a:r>
              <a:rPr sz="2250" b="0">
                <a:solidFill>
                  <a:srgbClr val="16233E"/>
                </a:solidFill>
                <a:latin typeface="IBM Plex Sans"/>
                <a:ea typeface="IBM Plex Sans"/>
                <a:cs typeface="IBM Plex Sans"/>
              </a:rPr>
              <a:t>The component that generates an answer.</a:t>
            </a:r>
          </a:p>
        </p:txBody>
      </p:sp>
      <p:sp>
        <p:nvSpPr>
          <p:cNvPr id="4" name="SYSTEM">
            <a:extLst xmlns:a="http://schemas.openxmlformats.org/drawingml/2006/main">
              <a:ext uri="{FF2B5EF4-FFF2-40B4-BE49-F238E27FC236}">
                <a16:creationId xmlns:a16="http://schemas.microsoft.com/office/drawing/2014/main" id="{664B694B-ABC6-4494-9889-A8FBBCE903EC}"/>
              </a:ext>
            </a:extLst>
          </p:cNvPr>
          <p:cNvSpPr>
            <a:spLocks xmlns:a="http://schemas.openxmlformats.org/drawingml/2006/main" noGrp="1"/>
          </p:cNvSpPr>
          <p:nvPr/>
        </p:nvSpPr>
        <p:spPr>
          <a:xfrm xmlns:a="http://schemas.openxmlformats.org/drawingml/2006/main">
            <a:off x="6457950" y="1762125"/>
            <a:ext cx="5000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87D73"/>
                </a:solidFill>
                <a:latin typeface="IBM Plex Sans"/>
                <a:ea typeface="IBM Plex Sans"/>
                <a:cs typeface="IBM Plex Sans"/>
              </a:defRPr>
            </a:pPr>
            <a:r>
              <a:rPr sz="2175" b="1">
                <a:solidFill>
                  <a:srgbClr val="187D73"/>
                </a:solidFill>
                <a:latin typeface="IBM Plex Sans"/>
                <a:ea typeface="IBM Plex Sans"/>
                <a:cs typeface="IBM Plex Sans"/>
              </a:rPr>
              <a:t>SYSTEM</a:t>
            </a:r>
          </a:p>
        </p:txBody>
      </p:sp>
      <p:sp>
        <p:nvSpPr>
          <p:cNvPr id="5" name="The instructions, tools and checks around it.">
            <a:extLst xmlns:a="http://schemas.openxmlformats.org/drawingml/2006/main">
              <a:ext uri="{FF2B5EF4-FFF2-40B4-BE49-F238E27FC236}">
                <a16:creationId xmlns:a16="http://schemas.microsoft.com/office/drawing/2014/main" id="{B8BF7F47-A5E1-4C81-8F2A-C51FD3D6EFD5}"/>
              </a:ext>
            </a:extLst>
          </p:cNvPr>
          <p:cNvSpPr>
            <a:spLocks xmlns:a="http://schemas.openxmlformats.org/drawingml/2006/main" noGrp="1"/>
          </p:cNvSpPr>
          <p:nvPr/>
        </p:nvSpPr>
        <p:spPr>
          <a:xfrm xmlns:a="http://schemas.openxmlformats.org/drawingml/2006/main">
            <a:off x="6457950" y="2219325"/>
            <a:ext cx="500062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6233E"/>
                </a:solidFill>
                <a:latin typeface="IBM Plex Sans"/>
                <a:ea typeface="IBM Plex Sans"/>
                <a:cs typeface="IBM Plex Sans"/>
              </a:defRPr>
            </a:pPr>
            <a:r>
              <a:rPr sz="2250" b="0">
                <a:solidFill>
                  <a:srgbClr val="16233E"/>
                </a:solidFill>
                <a:latin typeface="IBM Plex Sans"/>
                <a:ea typeface="IBM Plex Sans"/>
                <a:cs typeface="IBM Plex Sans"/>
              </a:rPr>
              <a:t>The instructions, tools and checks around it.</a:t>
            </a:r>
          </a:p>
        </p:txBody>
      </p:sp>
      <p:sp>
        <p:nvSpPr>
          <p:cNvPr id="6" name="BENCHMARK">
            <a:extLst xmlns:a="http://schemas.openxmlformats.org/drawingml/2006/main">
              <a:ext uri="{FF2B5EF4-FFF2-40B4-BE49-F238E27FC236}">
                <a16:creationId xmlns:a16="http://schemas.microsoft.com/office/drawing/2014/main" id="{9671B798-68EC-4D05-A7C2-2268FBFE2AF3}"/>
              </a:ext>
            </a:extLst>
          </p:cNvPr>
          <p:cNvSpPr>
            <a:spLocks xmlns:a="http://schemas.openxmlformats.org/drawingml/2006/main" noGrp="1"/>
          </p:cNvSpPr>
          <p:nvPr/>
        </p:nvSpPr>
        <p:spPr>
          <a:xfrm xmlns:a="http://schemas.openxmlformats.org/drawingml/2006/main">
            <a:off x="762000" y="3381375"/>
            <a:ext cx="5000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87D73"/>
                </a:solidFill>
                <a:latin typeface="IBM Plex Sans"/>
                <a:ea typeface="IBM Plex Sans"/>
                <a:cs typeface="IBM Plex Sans"/>
              </a:defRPr>
            </a:pPr>
            <a:r>
              <a:rPr sz="2175" b="1">
                <a:solidFill>
                  <a:srgbClr val="187D73"/>
                </a:solidFill>
                <a:latin typeface="IBM Plex Sans"/>
                <a:ea typeface="IBM Plex Sans"/>
                <a:cs typeface="IBM Plex Sans"/>
              </a:rPr>
              <a:t>BENCHMARK</a:t>
            </a:r>
          </a:p>
        </p:txBody>
      </p:sp>
      <p:sp>
        <p:nvSpPr>
          <p:cNvPr id="7" name="Defined cases, a reference and a scoring rule.">
            <a:extLst xmlns:a="http://schemas.openxmlformats.org/drawingml/2006/main">
              <a:ext uri="{FF2B5EF4-FFF2-40B4-BE49-F238E27FC236}">
                <a16:creationId xmlns:a16="http://schemas.microsoft.com/office/drawing/2014/main" id="{E5967967-276C-4145-A765-492F20F7BA02}"/>
              </a:ext>
            </a:extLst>
          </p:cNvPr>
          <p:cNvSpPr>
            <a:spLocks xmlns:a="http://schemas.openxmlformats.org/drawingml/2006/main" noGrp="1"/>
          </p:cNvSpPr>
          <p:nvPr/>
        </p:nvSpPr>
        <p:spPr>
          <a:xfrm xmlns:a="http://schemas.openxmlformats.org/drawingml/2006/main">
            <a:off x="762000" y="3838575"/>
            <a:ext cx="500062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6233E"/>
                </a:solidFill>
                <a:latin typeface="IBM Plex Sans"/>
                <a:ea typeface="IBM Plex Sans"/>
                <a:cs typeface="IBM Plex Sans"/>
              </a:defRPr>
            </a:pPr>
            <a:r>
              <a:rPr sz="2250" b="0">
                <a:solidFill>
                  <a:srgbClr val="16233E"/>
                </a:solidFill>
                <a:latin typeface="IBM Plex Sans"/>
                <a:ea typeface="IBM Plex Sans"/>
                <a:cs typeface="IBM Plex Sans"/>
              </a:rPr>
              <a:t>Defined cases, a reference and a scoring rule.</a:t>
            </a:r>
          </a:p>
        </p:txBody>
      </p:sp>
      <p:sp>
        <p:nvSpPr>
          <p:cNvPr id="8" name="JUDGE">
            <a:extLst xmlns:a="http://schemas.openxmlformats.org/drawingml/2006/main">
              <a:ext uri="{FF2B5EF4-FFF2-40B4-BE49-F238E27FC236}">
                <a16:creationId xmlns:a16="http://schemas.microsoft.com/office/drawing/2014/main" id="{7BABAEA9-E4A6-4224-ACC0-913331C94E29}"/>
              </a:ext>
            </a:extLst>
          </p:cNvPr>
          <p:cNvSpPr>
            <a:spLocks xmlns:a="http://schemas.openxmlformats.org/drawingml/2006/main" noGrp="1"/>
          </p:cNvSpPr>
          <p:nvPr/>
        </p:nvSpPr>
        <p:spPr>
          <a:xfrm xmlns:a="http://schemas.openxmlformats.org/drawingml/2006/main">
            <a:off x="6457950" y="3381375"/>
            <a:ext cx="5000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87D73"/>
                </a:solidFill>
                <a:latin typeface="IBM Plex Sans"/>
                <a:ea typeface="IBM Plex Sans"/>
                <a:cs typeface="IBM Plex Sans"/>
              </a:defRPr>
            </a:pPr>
            <a:r>
              <a:rPr sz="2175" b="1">
                <a:solidFill>
                  <a:srgbClr val="187D73"/>
                </a:solidFill>
                <a:latin typeface="IBM Plex Sans"/>
                <a:ea typeface="IBM Plex Sans"/>
                <a:cs typeface="IBM Plex Sans"/>
              </a:rPr>
              <a:t>JUDGE</a:t>
            </a:r>
          </a:p>
        </p:txBody>
      </p:sp>
      <p:sp>
        <p:nvSpPr>
          <p:cNvPr id="9" name="The mechanism that decides what counts as a pass.">
            <a:extLst xmlns:a="http://schemas.openxmlformats.org/drawingml/2006/main">
              <a:ext uri="{FF2B5EF4-FFF2-40B4-BE49-F238E27FC236}">
                <a16:creationId xmlns:a16="http://schemas.microsoft.com/office/drawing/2014/main" id="{38D2E0C1-AAD1-4A73-A8BA-9E09AB697563}"/>
              </a:ext>
            </a:extLst>
          </p:cNvPr>
          <p:cNvSpPr>
            <a:spLocks xmlns:a="http://schemas.openxmlformats.org/drawingml/2006/main" noGrp="1"/>
          </p:cNvSpPr>
          <p:nvPr/>
        </p:nvSpPr>
        <p:spPr>
          <a:xfrm xmlns:a="http://schemas.openxmlformats.org/drawingml/2006/main">
            <a:off x="6457950" y="3838575"/>
            <a:ext cx="500062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6233E"/>
                </a:solidFill>
                <a:latin typeface="IBM Plex Sans"/>
                <a:ea typeface="IBM Plex Sans"/>
                <a:cs typeface="IBM Plex Sans"/>
              </a:defRPr>
            </a:pPr>
            <a:r>
              <a:rPr sz="2250" b="0">
                <a:solidFill>
                  <a:srgbClr val="16233E"/>
                </a:solidFill>
                <a:latin typeface="IBM Plex Sans"/>
                <a:ea typeface="IBM Plex Sans"/>
                <a:cs typeface="IBM Plex Sans"/>
              </a:rPr>
              <a:t>The mechanism that decides what counts as a pass.</a:t>
            </a:r>
          </a:p>
        </p:txBody>
      </p:sp>
      <p:sp>
        <p:nvSpPr>
          <p:cNvPr id="10" name="One successful demo cannot establish reliable repeated ">
            <a:extLst xmlns:a="http://schemas.openxmlformats.org/drawingml/2006/main">
              <a:ext uri="{FF2B5EF4-FFF2-40B4-BE49-F238E27FC236}">
                <a16:creationId xmlns:a16="http://schemas.microsoft.com/office/drawing/2014/main" id="{84DEA9C2-8DA7-4A88-A315-9748A2538DEA}"/>
              </a:ext>
            </a:extLst>
          </p:cNvPr>
          <p:cNvSpPr>
            <a:spLocks xmlns:a="http://schemas.openxmlformats.org/drawingml/2006/main" noGrp="1"/>
          </p:cNvSpPr>
          <p:nvPr/>
        </p:nvSpPr>
        <p:spPr>
          <a:xfrm xmlns:a="http://schemas.openxmlformats.org/drawingml/2006/main">
            <a:off x="762000" y="5438775"/>
            <a:ext cx="10620375"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187D73"/>
                </a:solidFill>
                <a:latin typeface="IBM Plex Sans"/>
                <a:ea typeface="IBM Plex Sans"/>
                <a:cs typeface="IBM Plex Sans"/>
              </a:defRPr>
            </a:pPr>
            <a:r>
              <a:rPr sz="2250" b="1">
                <a:solidFill>
                  <a:srgbClr val="187D73"/>
                </a:solidFill>
                <a:latin typeface="IBM Plex Sans"/>
                <a:ea typeface="IBM Plex Sans"/>
                <a:cs typeface="IBM Plex Sans"/>
              </a:rPr>
              <a:t>One successful demo cannot establish reliable repeated behavior.</a:t>
            </a:r>
          </a:p>
        </p:txBody>
      </p:sp>
      <p:sp>
        <p:nvSpPr>
          <p:cNvPr id="11" name="Brandon Dent, MD   /   BIOM 7109/8109">
            <a:extLst xmlns:a="http://schemas.openxmlformats.org/drawingml/2006/main">
              <a:ext uri="{FF2B5EF4-FFF2-40B4-BE49-F238E27FC236}">
                <a16:creationId xmlns:a16="http://schemas.microsoft.com/office/drawing/2014/main" id="{F7CD42D7-6782-4660-B5FE-3D21C82D63C7}"/>
              </a:ext>
            </a:extLst>
          </p:cNvPr>
          <p:cNvSpPr>
            <a:spLocks xmlns:a="http://schemas.openxmlformats.org/drawingml/2006/main" noGrp="1"/>
          </p:cNvSpPr>
          <p:nvPr/>
        </p:nvSpPr>
        <p:spPr>
          <a:xfrm xmlns:a="http://schemas.openxmlformats.org/drawingml/2006/main">
            <a:off x="762000" y="6334125"/>
            <a:ext cx="981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b="0">
                <a:solidFill>
                  <a:srgbClr val="596475"/>
                </a:solidFill>
                <a:latin typeface="IBM Plex Sans"/>
                <a:ea typeface="IBM Plex Sans"/>
                <a:cs typeface="IBM Plex Sans"/>
              </a:defRPr>
            </a:pPr>
            <a:r>
              <a:rPr sz="1275" b="0">
                <a:solidFill>
                  <a:srgbClr val="596475"/>
                </a:solidFill>
                <a:latin typeface="IBM Plex Sans"/>
                <a:ea typeface="IBM Plex Sans"/>
                <a:cs typeface="IBM Plex Sans"/>
              </a:rPr>
              <a:t>Brandon Dent, MD   /   BIOM 7109/8109</a:t>
            </a:r>
          </a:p>
        </p:txBody>
      </p:sp>
      <p:sp>
        <p:nvSpPr>
          <p:cNvPr id="12" name="6 / 16">
            <a:extLst xmlns:a="http://schemas.openxmlformats.org/drawingml/2006/main">
              <a:ext uri="{FF2B5EF4-FFF2-40B4-BE49-F238E27FC236}">
                <a16:creationId xmlns:a16="http://schemas.microsoft.com/office/drawing/2014/main" id="{53BFFB6E-76B3-469E-937C-2B89FB16904D}"/>
              </a:ext>
            </a:extLst>
          </p:cNvPr>
          <p:cNvSpPr>
            <a:spLocks xmlns:a="http://schemas.openxmlformats.org/drawingml/2006/main" noGrp="1"/>
          </p:cNvSpPr>
          <p:nvPr/>
        </p:nvSpPr>
        <p:spPr>
          <a:xfrm xmlns:a="http://schemas.openxmlformats.org/drawingml/2006/main">
            <a:off x="10791825" y="6334125"/>
            <a:ext cx="762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b="0">
                <a:solidFill>
                  <a:srgbClr val="596475"/>
                </a:solidFill>
                <a:latin typeface="IBM Plex Sans"/>
                <a:ea typeface="IBM Plex Sans"/>
                <a:cs typeface="IBM Plex Sans"/>
              </a:defRPr>
            </a:pPr>
            <a:r>
              <a:rPr sz="1275" b="0">
                <a:solidFill>
                  <a:srgbClr val="596475"/>
                </a:solidFill>
                <a:latin typeface="IBM Plex Sans"/>
                <a:ea typeface="IBM Plex Sans"/>
                <a:cs typeface="IBM Plex Sans"/>
              </a:rPr>
              <a:t>6 / 16</a:t>
            </a:r>
          </a:p>
        </p:txBody>
      </p:sp>
    </p:spTree>
    <p:extLst>
      <p:ext uri="{BB962C8B-B14F-4D97-AF65-F5344CB8AC3E}">
        <p14:creationId xmlns:p14="http://schemas.microsoft.com/office/powerpoint/2010/main" val="616425912"/>
      </p:ext>
    </p:extLst>
  </p:cSld>
</p:sld>
</file>

<file path=ppt/slides/slide7.xml><?xml version="1.0" encoding="utf-8"?>
<p:sld xmlns:p="http://schemas.openxmlformats.org/presentationml/2006/main">
  <p:cSld>
    <p:bg>
      <p:bgPr>
        <a:solidFill xmlns:a="http://schemas.openxmlformats.org/drawingml/2006/main">
          <a:srgbClr val="F5F3ED"/>
        </a:solidFill>
      </p:bgPr>
    </p:bg>
    <p:spTree>
      <p:nvGrpSpPr>
        <p:cNvPr id="1" name=""/>
        <p:cNvGrpSpPr/>
        <p:nvPr/>
      </p:nvGrpSpPr>
      <p:grpSpPr>
        <a:xfrm xmlns:a="http://schemas.openxmlformats.org/drawingml/2006/main"/>
      </p:grpSpPr>
      <p:sp>
        <p:nvSpPr>
          <p:cNvPr id="12" name="slide-title">
            <a:extLst xmlns:a="http://schemas.openxmlformats.org/drawingml/2006/main">
              <a:ext uri="{FF2B5EF4-FFF2-40B4-BE49-F238E27FC236}">
                <a16:creationId xmlns:a16="http://schemas.microsoft.com/office/drawing/2014/main" id="{8243E6A5-FD75-4402-8C39-1A9E1E1EA24A}"/>
              </a:ext>
            </a:extLst>
          </p:cNvPr>
          <p:cNvSpPr>
            <a:spLocks xmlns:a="http://schemas.openxmlformats.org/drawingml/2006/main" noGrp="1"/>
          </p:cNvSpPr>
          <p:nvPr/>
        </p:nvSpPr>
        <p:spPr>
          <a:xfrm xmlns:a="http://schemas.openxmlformats.org/drawingml/2006/main">
            <a:off x="762000" y="609600"/>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450" b="1">
                <a:solidFill>
                  <a:srgbClr val="16233E"/>
                </a:solidFill>
                <a:latin typeface="IBM Plex Sans"/>
                <a:ea typeface="IBM Plex Sans"/>
                <a:cs typeface="IBM Plex Sans"/>
              </a:defRPr>
            </a:pPr>
            <a:r>
              <a:rPr sz="3450" b="1">
                <a:solidFill>
                  <a:srgbClr val="16233E"/>
                </a:solidFill>
                <a:latin typeface="IBM Plex Sans"/>
                <a:ea typeface="IBM Plex Sans"/>
                <a:cs typeface="IBM Plex Sans"/>
              </a:rPr>
              <a:t>Case C22: missing facts became reassuring facts</a:t>
            </a:r>
          </a:p>
        </p:txBody>
      </p:sp>
      <p:sp>
        <p:nvSpPr>
          <p:cNvPr id="2" name="SYNTHETIC MESSAGE">
            <a:extLst xmlns:a="http://schemas.openxmlformats.org/drawingml/2006/main">
              <a:ext uri="{FF2B5EF4-FFF2-40B4-BE49-F238E27FC236}">
                <a16:creationId xmlns:a16="http://schemas.microsoft.com/office/drawing/2014/main" id="{30001563-2796-47CC-84C6-363712E1FFFE}"/>
              </a:ext>
            </a:extLst>
          </p:cNvPr>
          <p:cNvSpPr>
            <a:spLocks xmlns:a="http://schemas.openxmlformats.org/drawingml/2006/main" noGrp="1"/>
          </p:cNvSpPr>
          <p:nvPr/>
        </p:nvSpPr>
        <p:spPr>
          <a:xfrm xmlns:a="http://schemas.openxmlformats.org/drawingml/2006/main">
            <a:off x="762000" y="1666875"/>
            <a:ext cx="6953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1">
                <a:solidFill>
                  <a:srgbClr val="187D73"/>
                </a:solidFill>
                <a:latin typeface="IBM Plex Sans"/>
                <a:ea typeface="IBM Plex Sans"/>
                <a:cs typeface="IBM Plex Sans"/>
              </a:defRPr>
            </a:pPr>
            <a:r>
              <a:rPr sz="1425" b="1">
                <a:solidFill>
                  <a:srgbClr val="187D73"/>
                </a:solidFill>
                <a:latin typeface="IBM Plex Sans"/>
                <a:ea typeface="IBM Plex Sans"/>
                <a:cs typeface="IBM Plex Sans"/>
              </a:rPr>
              <a:t>SYNTHETIC MESSAGE</a:t>
            </a:r>
          </a:p>
        </p:txBody>
      </p:sp>
      <p:sp>
        <p:nvSpPr>
          <p:cNvPr id="3" name="24M. I rolled my ankle playing basketball last night. I">
            <a:extLst xmlns:a="http://schemas.openxmlformats.org/drawingml/2006/main">
              <a:ext uri="{FF2B5EF4-FFF2-40B4-BE49-F238E27FC236}">
                <a16:creationId xmlns:a16="http://schemas.microsoft.com/office/drawing/2014/main" id="{58C0CC42-0E6C-41AF-82CC-D397E773ACED}"/>
              </a:ext>
            </a:extLst>
          </p:cNvPr>
          <p:cNvSpPr>
            <a:spLocks xmlns:a="http://schemas.openxmlformats.org/drawingml/2006/main" noGrp="1"/>
          </p:cNvSpPr>
          <p:nvPr/>
        </p:nvSpPr>
        <p:spPr>
          <a:xfrm xmlns:a="http://schemas.openxmlformats.org/drawingml/2006/main">
            <a:off x="762000" y="2057400"/>
            <a:ext cx="6858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6233E"/>
                </a:solidFill>
                <a:latin typeface="IBM Plex Sans"/>
                <a:ea typeface="IBM Plex Sans"/>
                <a:cs typeface="IBM Plex Sans"/>
              </a:defRPr>
            </a:pPr>
            <a:r>
              <a:rPr sz="2250" b="0">
                <a:solidFill>
                  <a:srgbClr val="16233E"/>
                </a:solidFill>
                <a:latin typeface="IBM Plex Sans"/>
                <a:ea typeface="IBM Plex Sans"/>
                <a:cs typeface="IBM Plex Sans"/>
              </a:rPr>
              <a:t>24M. I rolled my ankle playing basketball last night. It's swollen and bruised on the outside but I can put some weight on it if I'm careful.</a:t>
            </a:r>
          </a:p>
        </p:txBody>
      </p:sp>
      <p:sp>
        <p:nvSpPr>
          <p:cNvPr id="4" name="SAVED RESPONSE EXCERPT">
            <a:extLst xmlns:a="http://schemas.openxmlformats.org/drawingml/2006/main">
              <a:ext uri="{FF2B5EF4-FFF2-40B4-BE49-F238E27FC236}">
                <a16:creationId xmlns:a16="http://schemas.microsoft.com/office/drawing/2014/main" id="{CCDC26FE-854F-4980-9D15-F1A0BFF961EA}"/>
              </a:ext>
            </a:extLst>
          </p:cNvPr>
          <p:cNvSpPr>
            <a:spLocks xmlns:a="http://schemas.openxmlformats.org/drawingml/2006/main" noGrp="1"/>
          </p:cNvSpPr>
          <p:nvPr/>
        </p:nvSpPr>
        <p:spPr>
          <a:xfrm xmlns:a="http://schemas.openxmlformats.org/drawingml/2006/main">
            <a:off x="762000" y="3667125"/>
            <a:ext cx="6953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1">
                <a:solidFill>
                  <a:srgbClr val="B83624"/>
                </a:solidFill>
                <a:latin typeface="IBM Plex Sans"/>
                <a:ea typeface="IBM Plex Sans"/>
                <a:cs typeface="IBM Plex Sans"/>
              </a:defRPr>
            </a:pPr>
            <a:r>
              <a:rPr sz="1425" b="1">
                <a:solidFill>
                  <a:srgbClr val="B83624"/>
                </a:solidFill>
                <a:latin typeface="IBM Plex Sans"/>
                <a:ea typeface="IBM Plex Sans"/>
                <a:cs typeface="IBM Plex Sans"/>
              </a:rPr>
              <a:t>SAVED RESPONSE EXCERPT</a:t>
            </a:r>
          </a:p>
        </p:txBody>
      </p:sp>
      <p:sp>
        <p:nvSpPr>
          <p:cNvPr id="5" name="“no red flags (deformity, inability to bear weight, num">
            <a:extLst xmlns:a="http://schemas.openxmlformats.org/drawingml/2006/main">
              <a:ext uri="{FF2B5EF4-FFF2-40B4-BE49-F238E27FC236}">
                <a16:creationId xmlns:a16="http://schemas.microsoft.com/office/drawing/2014/main" id="{FDAD6A19-3C5A-44B8-9014-6B481D2AB3A1}"/>
              </a:ext>
            </a:extLst>
          </p:cNvPr>
          <p:cNvSpPr>
            <a:spLocks xmlns:a="http://schemas.openxmlformats.org/drawingml/2006/main" noGrp="1"/>
          </p:cNvSpPr>
          <p:nvPr/>
        </p:nvSpPr>
        <p:spPr>
          <a:xfrm xmlns:a="http://schemas.openxmlformats.org/drawingml/2006/main">
            <a:off x="762000" y="4067175"/>
            <a:ext cx="68580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1">
                <a:solidFill>
                  <a:srgbClr val="16233E"/>
                </a:solidFill>
                <a:latin typeface="IBM Plex Sans"/>
                <a:ea typeface="IBM Plex Sans"/>
                <a:cs typeface="IBM Plex Sans"/>
              </a:defRPr>
            </a:pPr>
            <a:r>
              <a:rPr sz="2325" b="1">
                <a:solidFill>
                  <a:srgbClr val="16233E"/>
                </a:solidFill>
                <a:latin typeface="IBM Plex Sans"/>
                <a:ea typeface="IBM Plex Sans"/>
                <a:cs typeface="IBM Plex Sans"/>
              </a:rPr>
              <a:t>“no red flags (deformity, inability to bear weight, numbness)”</a:t>
            </a:r>
          </a:p>
        </p:txBody>
      </p:sp>
      <p:sp>
        <p:nvSpPr>
          <p:cNvPr id="6" name="Which of those facts did the message actually establish">
            <a:extLst xmlns:a="http://schemas.openxmlformats.org/drawingml/2006/main">
              <a:ext uri="{FF2B5EF4-FFF2-40B4-BE49-F238E27FC236}">
                <a16:creationId xmlns:a16="http://schemas.microsoft.com/office/drawing/2014/main" id="{089F6C22-6C28-46D6-B25E-E0218E4A9959}"/>
              </a:ext>
            </a:extLst>
          </p:cNvPr>
          <p:cNvSpPr>
            <a:spLocks xmlns:a="http://schemas.openxmlformats.org/drawingml/2006/main" noGrp="1"/>
          </p:cNvSpPr>
          <p:nvPr/>
        </p:nvSpPr>
        <p:spPr>
          <a:xfrm xmlns:a="http://schemas.openxmlformats.org/drawingml/2006/main">
            <a:off x="762000" y="5276850"/>
            <a:ext cx="676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87D73"/>
                </a:solidFill>
                <a:latin typeface="IBM Plex Sans"/>
                <a:ea typeface="IBM Plex Sans"/>
                <a:cs typeface="IBM Plex Sans"/>
              </a:defRPr>
            </a:pPr>
            <a:r>
              <a:rPr sz="2175" b="1">
                <a:solidFill>
                  <a:srgbClr val="187D73"/>
                </a:solidFill>
                <a:latin typeface="IBM Plex Sans"/>
                <a:ea typeface="IBM Plex Sans"/>
                <a:cs typeface="IBM Plex Sans"/>
              </a:rPr>
              <a:t>Which of those facts did the message actually establish?</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9438aed7cf104545"/>
          <a:stretch xmlns:a="http://schemas.openxmlformats.org/drawingml/2006/main"/>
        </p:blipFill>
        <p:spPr>
          <a:xfrm xmlns:a="http://schemas.openxmlformats.org/drawingml/2006/main">
            <a:off x="8999138" y="1781175"/>
            <a:ext cx="1651799" cy="1790700"/>
          </a:xfrm>
          <a:prstGeom xmlns:a="http://schemas.openxmlformats.org/drawingml/2006/main" prst="rect">
            <a:avLst/>
          </a:prstGeom>
        </p:spPr>
      </p:pic>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c531ee9a9a384e94"/>
          <a:stretch xmlns:a="http://schemas.openxmlformats.org/drawingml/2006/main"/>
        </p:blipFill>
        <p:spPr>
          <a:xfrm xmlns:a="http://schemas.openxmlformats.org/drawingml/2006/main">
            <a:off x="8933066" y="3695700"/>
            <a:ext cx="1783943" cy="1790700"/>
          </a:xfrm>
          <a:prstGeom xmlns:a="http://schemas.openxmlformats.org/drawingml/2006/main" prst="rect">
            <a:avLst/>
          </a:prstGeom>
        </p:spPr>
      </p:pic>
      <p:sp>
        <p:nvSpPr>
          <p:cNvPr id="9" name="Discussion images only.&#10;No confirmed case outcome.">
            <a:extLst xmlns:a="http://schemas.openxmlformats.org/drawingml/2006/main">
              <a:ext uri="{FF2B5EF4-FFF2-40B4-BE49-F238E27FC236}">
                <a16:creationId xmlns:a16="http://schemas.microsoft.com/office/drawing/2014/main" id="{BFC8009D-17F3-4DE1-B4B0-98034F2E9AF5}"/>
              </a:ext>
            </a:extLst>
          </p:cNvPr>
          <p:cNvSpPr>
            <a:spLocks xmlns:a="http://schemas.openxmlformats.org/drawingml/2006/main" noGrp="1"/>
          </p:cNvSpPr>
          <p:nvPr/>
        </p:nvSpPr>
        <p:spPr>
          <a:xfrm xmlns:a="http://schemas.openxmlformats.org/drawingml/2006/main">
            <a:off x="8201025" y="5600700"/>
            <a:ext cx="32766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0">
                <a:solidFill>
                  <a:srgbClr val="596475"/>
                </a:solidFill>
                <a:latin typeface="IBM Plex Sans"/>
                <a:ea typeface="IBM Plex Sans"/>
                <a:cs typeface="IBM Plex Sans"/>
              </a:defRPr>
            </a:pPr>
            <a:r>
              <a:rPr sz="1425" b="0">
                <a:solidFill>
                  <a:srgbClr val="596475"/>
                </a:solidFill>
                <a:latin typeface="IBM Plex Sans"/>
                <a:ea typeface="IBM Plex Sans"/>
                <a:cs typeface="IBM Plex Sans"/>
              </a:rPr>
              <a:t>Discussion images only.</a:t>
            </a:r>
          </a:p>
          <a:p xmlns:a="http://schemas.openxmlformats.org/drawingml/2006/main">
            <a:pPr>
              <a:defRPr sz="1425" b="0">
                <a:solidFill>
                  <a:srgbClr val="596475"/>
                </a:solidFill>
                <a:latin typeface="IBM Plex Sans"/>
                <a:ea typeface="IBM Plex Sans"/>
                <a:cs typeface="IBM Plex Sans"/>
              </a:defRPr>
            </a:pPr>
            <a:r>
              <a:rPr sz="1425" b="0">
                <a:solidFill>
                  <a:srgbClr val="596475"/>
                </a:solidFill>
                <a:latin typeface="IBM Plex Sans"/>
                <a:ea typeface="IBM Plex Sans"/>
                <a:cs typeface="IBM Plex Sans"/>
              </a:rPr>
              <a:t>No confirmed case outcome.</a:t>
            </a:r>
          </a:p>
        </p:txBody>
      </p:sp>
      <p:sp>
        <p:nvSpPr>
          <p:cNvPr id="10" name="Brandon Dent, MD   /   BIOM 7109/8109">
            <a:extLst xmlns:a="http://schemas.openxmlformats.org/drawingml/2006/main">
              <a:ext uri="{FF2B5EF4-FFF2-40B4-BE49-F238E27FC236}">
                <a16:creationId xmlns:a16="http://schemas.microsoft.com/office/drawing/2014/main" id="{C0FBBDBB-06B4-4A21-93C8-DA055EA96CA3}"/>
              </a:ext>
            </a:extLst>
          </p:cNvPr>
          <p:cNvSpPr>
            <a:spLocks xmlns:a="http://schemas.openxmlformats.org/drawingml/2006/main" noGrp="1"/>
          </p:cNvSpPr>
          <p:nvPr/>
        </p:nvSpPr>
        <p:spPr>
          <a:xfrm xmlns:a="http://schemas.openxmlformats.org/drawingml/2006/main">
            <a:off x="762000" y="6334125"/>
            <a:ext cx="981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b="0">
                <a:solidFill>
                  <a:srgbClr val="596475"/>
                </a:solidFill>
                <a:latin typeface="IBM Plex Sans"/>
                <a:ea typeface="IBM Plex Sans"/>
                <a:cs typeface="IBM Plex Sans"/>
              </a:defRPr>
            </a:pPr>
            <a:r>
              <a:rPr sz="1275" b="0">
                <a:solidFill>
                  <a:srgbClr val="596475"/>
                </a:solidFill>
                <a:latin typeface="IBM Plex Sans"/>
                <a:ea typeface="IBM Plex Sans"/>
                <a:cs typeface="IBM Plex Sans"/>
              </a:rPr>
              <a:t>Brandon Dent, MD   /   BIOM 7109/8109</a:t>
            </a:r>
          </a:p>
        </p:txBody>
      </p:sp>
      <p:sp>
        <p:nvSpPr>
          <p:cNvPr id="11" name="7 / 16">
            <a:extLst xmlns:a="http://schemas.openxmlformats.org/drawingml/2006/main">
              <a:ext uri="{FF2B5EF4-FFF2-40B4-BE49-F238E27FC236}">
                <a16:creationId xmlns:a16="http://schemas.microsoft.com/office/drawing/2014/main" id="{D3715A18-20AD-43C0-B50C-8ECB109C46AA}"/>
              </a:ext>
            </a:extLst>
          </p:cNvPr>
          <p:cNvSpPr>
            <a:spLocks xmlns:a="http://schemas.openxmlformats.org/drawingml/2006/main" noGrp="1"/>
          </p:cNvSpPr>
          <p:nvPr/>
        </p:nvSpPr>
        <p:spPr>
          <a:xfrm xmlns:a="http://schemas.openxmlformats.org/drawingml/2006/main">
            <a:off x="10791825" y="6334125"/>
            <a:ext cx="762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b="0">
                <a:solidFill>
                  <a:srgbClr val="596475"/>
                </a:solidFill>
                <a:latin typeface="IBM Plex Sans"/>
                <a:ea typeface="IBM Plex Sans"/>
                <a:cs typeface="IBM Plex Sans"/>
              </a:defRPr>
            </a:pPr>
            <a:r>
              <a:rPr sz="1275" b="0">
                <a:solidFill>
                  <a:srgbClr val="596475"/>
                </a:solidFill>
                <a:latin typeface="IBM Plex Sans"/>
                <a:ea typeface="IBM Plex Sans"/>
                <a:cs typeface="IBM Plex Sans"/>
              </a:rPr>
              <a:t>7 / 16</a:t>
            </a:r>
          </a:p>
        </p:txBody>
      </p:sp>
    </p:spTree>
    <p:extLst>
      <p:ext uri="{BB962C8B-B14F-4D97-AF65-F5344CB8AC3E}">
        <p14:creationId xmlns:p14="http://schemas.microsoft.com/office/powerpoint/2010/main" val="823820482"/>
      </p:ext>
    </p:extLst>
  </p:cSld>
</p:sld>
</file>

<file path=ppt/slides/slide8.xml><?xml version="1.0" encoding="utf-8"?>
<p:sld xmlns:p="http://schemas.openxmlformats.org/presentationml/2006/main">
  <p:cSld>
    <p:bg>
      <p:bgPr>
        <a:solidFill xmlns:a="http://schemas.openxmlformats.org/drawingml/2006/main">
          <a:srgbClr val="F5F3ED"/>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C6752BDD-43CF-4AF6-AC23-7CAB1EB37D72}"/>
              </a:ext>
            </a:extLst>
          </p:cNvPr>
          <p:cNvSpPr>
            <a:spLocks xmlns:a="http://schemas.openxmlformats.org/drawingml/2006/main" noGrp="1"/>
          </p:cNvSpPr>
          <p:nvPr/>
        </p:nvSpPr>
        <p:spPr>
          <a:xfrm xmlns:a="http://schemas.openxmlformats.org/drawingml/2006/main">
            <a:off x="762000" y="609600"/>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450" b="1">
                <a:solidFill>
                  <a:srgbClr val="16233E"/>
                </a:solidFill>
                <a:latin typeface="IBM Plex Sans"/>
                <a:ea typeface="IBM Plex Sans"/>
                <a:cs typeface="IBM Plex Sans"/>
              </a:defRPr>
            </a:pPr>
            <a:r>
              <a:rPr sz="3450" b="1">
                <a:solidFill>
                  <a:srgbClr val="16233E"/>
                </a:solidFill>
                <a:latin typeface="IBM Plex Sans"/>
                <a:ea typeface="IBM Plex Sans"/>
                <a:cs typeface="IBM Plex Sans"/>
              </a:rPr>
              <a:t>HealthBench: the score needs its conditions</a:t>
            </a:r>
          </a:p>
        </p:txBody>
      </p:sp>
      <p:sp>
        <p:nvSpPr>
          <p:cNvPr id="2" name="525">
            <a:extLst xmlns:a="http://schemas.openxmlformats.org/drawingml/2006/main">
              <a:ext uri="{FF2B5EF4-FFF2-40B4-BE49-F238E27FC236}">
                <a16:creationId xmlns:a16="http://schemas.microsoft.com/office/drawing/2014/main" id="{9C6C49A8-9024-4061-889B-501EB4C19B54}"/>
              </a:ext>
            </a:extLst>
          </p:cNvPr>
          <p:cNvSpPr>
            <a:spLocks xmlns:a="http://schemas.openxmlformats.org/drawingml/2006/main" noGrp="1"/>
          </p:cNvSpPr>
          <p:nvPr/>
        </p:nvSpPr>
        <p:spPr>
          <a:xfrm xmlns:a="http://schemas.openxmlformats.org/drawingml/2006/main">
            <a:off x="762000" y="1657350"/>
            <a:ext cx="28575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6525" b="1">
                <a:solidFill>
                  <a:srgbClr val="187D73"/>
                </a:solidFill>
                <a:latin typeface="IBM Plex Sans"/>
                <a:ea typeface="IBM Plex Sans"/>
                <a:cs typeface="IBM Plex Sans"/>
              </a:defRPr>
            </a:pPr>
            <a:r>
              <a:rPr sz="6525" b="1">
                <a:solidFill>
                  <a:srgbClr val="187D73"/>
                </a:solidFill>
                <a:latin typeface="IBM Plex Sans"/>
                <a:ea typeface="IBM Plex Sans"/>
                <a:cs typeface="IBM Plex Sans"/>
              </a:rPr>
              <a:t>525</a:t>
            </a:r>
          </a:p>
        </p:txBody>
      </p:sp>
      <p:sp>
        <p:nvSpPr>
          <p:cNvPr id="3" name="clinician tasks in&#10;HealthBench Professional">
            <a:extLst xmlns:a="http://schemas.openxmlformats.org/drawingml/2006/main">
              <a:ext uri="{FF2B5EF4-FFF2-40B4-BE49-F238E27FC236}">
                <a16:creationId xmlns:a16="http://schemas.microsoft.com/office/drawing/2014/main" id="{35F73711-D8C2-497E-85F5-E5E36274CC9C}"/>
              </a:ext>
            </a:extLst>
          </p:cNvPr>
          <p:cNvSpPr>
            <a:spLocks xmlns:a="http://schemas.openxmlformats.org/drawingml/2006/main" noGrp="1"/>
          </p:cNvSpPr>
          <p:nvPr/>
        </p:nvSpPr>
        <p:spPr>
          <a:xfrm xmlns:a="http://schemas.openxmlformats.org/drawingml/2006/main">
            <a:off x="762000" y="2790825"/>
            <a:ext cx="401002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6233E"/>
                </a:solidFill>
                <a:latin typeface="IBM Plex Sans"/>
                <a:ea typeface="IBM Plex Sans"/>
                <a:cs typeface="IBM Plex Sans"/>
              </a:defRPr>
            </a:pPr>
            <a:r>
              <a:rPr sz="2250" b="0">
                <a:solidFill>
                  <a:srgbClr val="16233E"/>
                </a:solidFill>
                <a:latin typeface="IBM Plex Sans"/>
                <a:ea typeface="IBM Plex Sans"/>
                <a:cs typeface="IBM Plex Sans"/>
              </a:rPr>
              <a:t>clinician tasks in</a:t>
            </a:r>
          </a:p>
          <a:p xmlns:a="http://schemas.openxmlformats.org/drawingml/2006/main">
            <a:pPr>
              <a:defRPr sz="2250" b="0">
                <a:solidFill>
                  <a:srgbClr val="16233E"/>
                </a:solidFill>
                <a:latin typeface="IBM Plex Sans"/>
                <a:ea typeface="IBM Plex Sans"/>
                <a:cs typeface="IBM Plex Sans"/>
              </a:defRPr>
            </a:pPr>
            <a:r>
              <a:rPr sz="2250" b="0">
                <a:solidFill>
                  <a:srgbClr val="16233E"/>
                </a:solidFill>
                <a:latin typeface="IBM Plex Sans"/>
                <a:ea typeface="IBM Plex Sans"/>
                <a:cs typeface="IBM Plex Sans"/>
              </a:rPr>
              <a:t>HealthBench Professional</a:t>
            </a:r>
          </a:p>
        </p:txBody>
      </p:sp>
      <p:sp>
        <p:nvSpPr>
          <p:cNvPr id="4" name="64.7">
            <a:extLst xmlns:a="http://schemas.openxmlformats.org/drawingml/2006/main">
              <a:ext uri="{FF2B5EF4-FFF2-40B4-BE49-F238E27FC236}">
                <a16:creationId xmlns:a16="http://schemas.microsoft.com/office/drawing/2014/main" id="{7F3CACE4-F6B4-474B-981D-122C1CC4B4AA}"/>
              </a:ext>
            </a:extLst>
          </p:cNvPr>
          <p:cNvSpPr>
            <a:spLocks xmlns:a="http://schemas.openxmlformats.org/drawingml/2006/main" noGrp="1"/>
          </p:cNvSpPr>
          <p:nvPr/>
        </p:nvSpPr>
        <p:spPr>
          <a:xfrm xmlns:a="http://schemas.openxmlformats.org/drawingml/2006/main">
            <a:off x="5857875" y="1657350"/>
            <a:ext cx="5429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6525" b="1">
                <a:solidFill>
                  <a:srgbClr val="FF249C"/>
                </a:solidFill>
                <a:latin typeface="IBM Plex Sans"/>
                <a:ea typeface="IBM Plex Sans"/>
                <a:cs typeface="IBM Plex Sans"/>
              </a:defRPr>
            </a:pPr>
            <a:r>
              <a:rPr sz="6525" b="1">
                <a:solidFill>
                  <a:srgbClr val="FF249C"/>
                </a:solidFill>
                <a:latin typeface="IBM Plex Sans"/>
                <a:ea typeface="IBM Plex Sans"/>
                <a:cs typeface="IBM Plex Sans"/>
              </a:rPr>
              <a:t>64.7</a:t>
            </a:r>
          </a:p>
        </p:txBody>
      </p:sp>
      <p:sp>
        <p:nvSpPr>
          <p:cNvPr id="5" name="GPT-6 Astra, length-adjusted&#10;Corrected September 22, 20">
            <a:extLst xmlns:a="http://schemas.openxmlformats.org/drawingml/2006/main">
              <a:ext uri="{FF2B5EF4-FFF2-40B4-BE49-F238E27FC236}">
                <a16:creationId xmlns:a16="http://schemas.microsoft.com/office/drawing/2014/main" id="{4820A8C9-2A58-4AD6-A249-78E6ED6C7AC3}"/>
              </a:ext>
            </a:extLst>
          </p:cNvPr>
          <p:cNvSpPr>
            <a:spLocks xmlns:a="http://schemas.openxmlformats.org/drawingml/2006/main" noGrp="1"/>
          </p:cNvSpPr>
          <p:nvPr/>
        </p:nvSpPr>
        <p:spPr>
          <a:xfrm xmlns:a="http://schemas.openxmlformats.org/drawingml/2006/main">
            <a:off x="5857875" y="2790825"/>
            <a:ext cx="5429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6233E"/>
                </a:solidFill>
                <a:latin typeface="IBM Plex Sans"/>
                <a:ea typeface="IBM Plex Sans"/>
                <a:cs typeface="IBM Plex Sans"/>
              </a:defRPr>
            </a:pPr>
            <a:r>
              <a:rPr sz="2250" b="0">
                <a:solidFill>
                  <a:srgbClr val="16233E"/>
                </a:solidFill>
                <a:latin typeface="IBM Plex Sans"/>
                <a:ea typeface="IBM Plex Sans"/>
                <a:cs typeface="IBM Plex Sans"/>
              </a:rPr>
              <a:t>GPT-6 Astra, length-adjusted</a:t>
            </a:r>
          </a:p>
          <a:p xmlns:a="http://schemas.openxmlformats.org/drawingml/2006/main">
            <a:pPr>
              <a:defRPr sz="2250" b="0">
                <a:solidFill>
                  <a:srgbClr val="16233E"/>
                </a:solidFill>
                <a:latin typeface="IBM Plex Sans"/>
                <a:ea typeface="IBM Plex Sans"/>
                <a:cs typeface="IBM Plex Sans"/>
              </a:defRPr>
            </a:pPr>
            <a:r>
              <a:rPr sz="2250" b="0">
                <a:solidFill>
                  <a:srgbClr val="16233E"/>
                </a:solidFill>
                <a:latin typeface="IBM Plex Sans"/>
                <a:ea typeface="IBM Plex Sans"/>
                <a:cs typeface="IBM Plex Sans"/>
              </a:rPr>
              <a:t>Corrected September 22, 2026</a:t>
            </a:r>
          </a:p>
        </p:txBody>
      </p:sp>
      <p:sp>
        <p:nvSpPr>
          <p:cNvPr id="6" name="Claude comparisons also depend on refusal handling, fal">
            <a:extLst xmlns:a="http://schemas.openxmlformats.org/drawingml/2006/main">
              <a:ext uri="{FF2B5EF4-FFF2-40B4-BE49-F238E27FC236}">
                <a16:creationId xmlns:a16="http://schemas.microsoft.com/office/drawing/2014/main" id="{CF663687-8499-4EF0-AFE7-99D5E60CD2B6}"/>
              </a:ext>
            </a:extLst>
          </p:cNvPr>
          <p:cNvSpPr>
            <a:spLocks xmlns:a="http://schemas.openxmlformats.org/drawingml/2006/main" noGrp="1"/>
          </p:cNvSpPr>
          <p:nvPr/>
        </p:nvSpPr>
        <p:spPr>
          <a:xfrm xmlns:a="http://schemas.openxmlformats.org/drawingml/2006/main">
            <a:off x="762000" y="412432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16233E"/>
                </a:solidFill>
                <a:latin typeface="IBM Plex Sans"/>
                <a:ea typeface="IBM Plex Sans"/>
                <a:cs typeface="IBM Plex Sans"/>
              </a:defRPr>
            </a:pPr>
            <a:r>
              <a:rPr sz="2400" b="1">
                <a:solidFill>
                  <a:srgbClr val="16233E"/>
                </a:solidFill>
                <a:latin typeface="IBM Plex Sans"/>
                <a:ea typeface="IBM Plex Sans"/>
                <a:cs typeface="IBM Plex Sans"/>
              </a:rPr>
              <a:t>Claude comparisons also depend on refusal handling, fallback models and the grader.</a:t>
            </a:r>
          </a:p>
        </p:txBody>
      </p:sp>
      <p:sp>
        <p:nvSpPr>
          <p:cNvPr id="7" name="Ask: which configuration, which reference, which endpoi">
            <a:extLst xmlns:a="http://schemas.openxmlformats.org/drawingml/2006/main">
              <a:ext uri="{FF2B5EF4-FFF2-40B4-BE49-F238E27FC236}">
                <a16:creationId xmlns:a16="http://schemas.microsoft.com/office/drawing/2014/main" id="{D99136E9-E110-48F2-A1D3-166E4115F55D}"/>
              </a:ext>
            </a:extLst>
          </p:cNvPr>
          <p:cNvSpPr>
            <a:spLocks xmlns:a="http://schemas.openxmlformats.org/drawingml/2006/main" noGrp="1"/>
          </p:cNvSpPr>
          <p:nvPr/>
        </p:nvSpPr>
        <p:spPr>
          <a:xfrm xmlns:a="http://schemas.openxmlformats.org/drawingml/2006/main">
            <a:off x="762000" y="5229225"/>
            <a:ext cx="104775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87D73"/>
                </a:solidFill>
                <a:latin typeface="IBM Plex Sans"/>
                <a:ea typeface="IBM Plex Sans"/>
                <a:cs typeface="IBM Plex Sans"/>
              </a:defRPr>
            </a:pPr>
            <a:r>
              <a:rPr sz="2325" b="0">
                <a:solidFill>
                  <a:srgbClr val="187D73"/>
                </a:solidFill>
                <a:latin typeface="IBM Plex Sans"/>
                <a:ea typeface="IBM Plex Sans"/>
                <a:cs typeface="IBM Plex Sans"/>
              </a:rPr>
              <a:t>Ask: which configuration, which reference, which endpoint?</a:t>
            </a:r>
          </a:p>
        </p:txBody>
      </p:sp>
      <p:sp>
        <p:nvSpPr>
          <p:cNvPr id="8" name="Brandon Dent, MD   /   BIOM 7109/8109">
            <a:extLst xmlns:a="http://schemas.openxmlformats.org/drawingml/2006/main">
              <a:ext uri="{FF2B5EF4-FFF2-40B4-BE49-F238E27FC236}">
                <a16:creationId xmlns:a16="http://schemas.microsoft.com/office/drawing/2014/main" id="{144716BD-1BB9-430A-BB99-8A40EF10F203}"/>
              </a:ext>
            </a:extLst>
          </p:cNvPr>
          <p:cNvSpPr>
            <a:spLocks xmlns:a="http://schemas.openxmlformats.org/drawingml/2006/main" noGrp="1"/>
          </p:cNvSpPr>
          <p:nvPr/>
        </p:nvSpPr>
        <p:spPr>
          <a:xfrm xmlns:a="http://schemas.openxmlformats.org/drawingml/2006/main">
            <a:off x="762000" y="6334125"/>
            <a:ext cx="981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b="0">
                <a:solidFill>
                  <a:srgbClr val="596475"/>
                </a:solidFill>
                <a:latin typeface="IBM Plex Sans"/>
                <a:ea typeface="IBM Plex Sans"/>
                <a:cs typeface="IBM Plex Sans"/>
              </a:defRPr>
            </a:pPr>
            <a:r>
              <a:rPr sz="1275" b="0">
                <a:solidFill>
                  <a:srgbClr val="596475"/>
                </a:solidFill>
                <a:latin typeface="IBM Plex Sans"/>
                <a:ea typeface="IBM Plex Sans"/>
                <a:cs typeface="IBM Plex Sans"/>
              </a:rPr>
              <a:t>Brandon Dent, MD   /   BIOM 7109/8109</a:t>
            </a:r>
          </a:p>
        </p:txBody>
      </p:sp>
      <p:sp>
        <p:nvSpPr>
          <p:cNvPr id="9" name="8 / 16">
            <a:extLst xmlns:a="http://schemas.openxmlformats.org/drawingml/2006/main">
              <a:ext uri="{FF2B5EF4-FFF2-40B4-BE49-F238E27FC236}">
                <a16:creationId xmlns:a16="http://schemas.microsoft.com/office/drawing/2014/main" id="{E37A9898-A6AC-4A66-944E-0E1B3149E6F7}"/>
              </a:ext>
            </a:extLst>
          </p:cNvPr>
          <p:cNvSpPr>
            <a:spLocks xmlns:a="http://schemas.openxmlformats.org/drawingml/2006/main" noGrp="1"/>
          </p:cNvSpPr>
          <p:nvPr/>
        </p:nvSpPr>
        <p:spPr>
          <a:xfrm xmlns:a="http://schemas.openxmlformats.org/drawingml/2006/main">
            <a:off x="10791825" y="6334125"/>
            <a:ext cx="762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b="0">
                <a:solidFill>
                  <a:srgbClr val="596475"/>
                </a:solidFill>
                <a:latin typeface="IBM Plex Sans"/>
                <a:ea typeface="IBM Plex Sans"/>
                <a:cs typeface="IBM Plex Sans"/>
              </a:defRPr>
            </a:pPr>
            <a:r>
              <a:rPr sz="1275" b="0">
                <a:solidFill>
                  <a:srgbClr val="596475"/>
                </a:solidFill>
                <a:latin typeface="IBM Plex Sans"/>
                <a:ea typeface="IBM Plex Sans"/>
                <a:cs typeface="IBM Plex Sans"/>
              </a:rPr>
              <a:t>8 / 16</a:t>
            </a:r>
          </a:p>
        </p:txBody>
      </p:sp>
    </p:spTree>
    <p:extLst>
      <p:ext uri="{BB962C8B-B14F-4D97-AF65-F5344CB8AC3E}">
        <p14:creationId xmlns:p14="http://schemas.microsoft.com/office/powerpoint/2010/main" val="1481509019"/>
      </p:ext>
    </p:extLst>
  </p:cSld>
</p:sld>
</file>

<file path=ppt/slides/slide9.xml><?xml version="1.0" encoding="utf-8"?>
<p:sld xmlns:p="http://schemas.openxmlformats.org/presentationml/2006/main">
  <p:cSld>
    <p:bg>
      <p:bgPr>
        <a:solidFill xmlns:a="http://schemas.openxmlformats.org/drawingml/2006/main">
          <a:srgbClr val="F5F3ED"/>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9F3EB747-33F7-4614-8BA0-8A41A4997967}"/>
              </a:ext>
            </a:extLst>
          </p:cNvPr>
          <p:cNvSpPr>
            <a:spLocks xmlns:a="http://schemas.openxmlformats.org/drawingml/2006/main" noGrp="1"/>
          </p:cNvSpPr>
          <p:nvPr/>
        </p:nvSpPr>
        <p:spPr>
          <a:xfrm xmlns:a="http://schemas.openxmlformats.org/drawingml/2006/main">
            <a:off x="762000" y="609600"/>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450" b="1">
                <a:solidFill>
                  <a:srgbClr val="16233E"/>
                </a:solidFill>
                <a:latin typeface="IBM Plex Sans"/>
                <a:ea typeface="IBM Plex Sans"/>
                <a:cs typeface="IBM Plex Sans"/>
              </a:defRPr>
            </a:pPr>
            <a:r>
              <a:rPr sz="3450" b="1">
                <a:solidFill>
                  <a:srgbClr val="16233E"/>
                </a:solidFill>
                <a:latin typeface="IBM Plex Sans"/>
                <a:ea typeface="IBM Plex Sans"/>
                <a:cs typeface="IBM Plex Sans"/>
              </a:rPr>
              <a:t>Our saved cases still expose frontier failures</a:t>
            </a:r>
          </a:p>
        </p:txBody>
      </p:sp>
      <p:graphicFrame>
        <p:nvGraphicFramePr>
          <p:cNvPr id="8" name=""/>
          <p:cNvGraphicFramePr/>
          <p:nvPr/>
        </p:nvGraphicFramePr>
        <p:xfrm>
          <a:off xmlns:a="http://schemas.openxmlformats.org/drawingml/2006/main" x="762000" y="1847850"/>
          <a:ext xmlns:a="http://schemas.openxmlformats.org/drawingml/2006/main" cx="10668000" cy="2857500"/>
        </p:xfrm>
        <a:graphic xmlns:a="http://schemas.openxmlformats.org/drawingml/2006/main">
          <a:graphicData uri="http://schemas.openxmlformats.org/drawingml/2006/table">
            <a:tbl>
              <a:tblPr/>
              <a:tblGrid>
                <a:gridCol w="3867150"/>
                <a:gridCol w="1695450"/>
                <a:gridCol w="2552700"/>
                <a:gridCol w="2552700"/>
              </a:tblGrid>
              <a:tr h="714375">
                <a:tc>
                  <a:txBody>
                    <a:bodyPr wrap="square">
                      <a:noAutofit/>
                    </a:bodyPr>
                    <a:lstStyle/>
                    <a:p>
                      <a:r>
                        <a:rPr sz="1950" b="1">
                          <a:solidFill>
                            <a:srgbClr val="FFFFFF"/>
                          </a:solidFill>
                          <a:latin typeface="IBM Plex Sans"/>
                          <a:ea typeface="IBM Plex Sans"/>
                          <a:cs typeface="IBM Plex Sans"/>
                        </a:rPr>
                        <a:t>Saved configuration</a:t>
                      </a:r>
                    </a:p>
                  </a:txBody>
                  <a:tcPr marL="91440" marR="91440" marT="45720" marB="45720">
                    <a:solidFill>
                      <a:srgbClr val="16233E"/>
                    </a:solidFill>
                  </a:tcPr>
                </a:tc>
                <a:tc>
                  <a:txBody>
                    <a:bodyPr wrap="square">
                      <a:noAutofit/>
                    </a:bodyPr>
                    <a:lstStyle/>
                    <a:p>
                      <a:r>
                        <a:rPr sz="1950" b="1">
                          <a:solidFill>
                            <a:srgbClr val="FFFFFF"/>
                          </a:solidFill>
                          <a:latin typeface="IBM Plex Sans"/>
                          <a:ea typeface="IBM Plex Sans"/>
                          <a:cs typeface="IBM Plex Sans"/>
                        </a:rPr>
                        <a:t>Agreement</a:t>
                      </a:r>
                    </a:p>
                  </a:txBody>
                  <a:tcPr marL="91440" marR="91440" marT="45720" marB="45720">
                    <a:solidFill>
                      <a:srgbClr val="16233E"/>
                    </a:solidFill>
                  </a:tcPr>
                </a:tc>
                <a:tc>
                  <a:txBody>
                    <a:bodyPr wrap="square">
                      <a:noAutofit/>
                    </a:bodyPr>
                    <a:lstStyle/>
                    <a:p>
                      <a:r>
                        <a:rPr sz="1950" b="1">
                          <a:solidFill>
                            <a:srgbClr val="FFFFFF"/>
                          </a:solidFill>
                          <a:latin typeface="IBM Plex Sans"/>
                          <a:ea typeface="IBM Plex Sans"/>
                          <a:cs typeface="IBM Plex Sans"/>
                        </a:rPr>
                        <a:t>Missed clinician action</a:t>
                      </a:r>
                    </a:p>
                  </a:txBody>
                  <a:tcPr marL="91440" marR="91440" marT="45720" marB="45720">
                    <a:solidFill>
                      <a:srgbClr val="16233E"/>
                    </a:solidFill>
                  </a:tcPr>
                </a:tc>
                <a:tc>
                  <a:txBody>
                    <a:bodyPr wrap="square">
                      <a:noAutofit/>
                    </a:bodyPr>
                    <a:lstStyle/>
                    <a:p>
                      <a:r>
                        <a:rPr sz="1950" b="1">
                          <a:solidFill>
                            <a:srgbClr val="FFFFFF"/>
                          </a:solidFill>
                          <a:latin typeface="IBM Plex Sans"/>
                          <a:ea typeface="IBM Plex Sans"/>
                          <a:cs typeface="IBM Plex Sans"/>
                        </a:rPr>
                        <a:t>Missed urgent action</a:t>
                      </a:r>
                    </a:p>
                  </a:txBody>
                  <a:tcPr marL="91440" marR="91440" marT="45720" marB="45720">
                    <a:solidFill>
                      <a:srgbClr val="16233E"/>
                    </a:solidFill>
                  </a:tcPr>
                </a:tc>
              </a:tr>
              <a:tr h="714375">
                <a:tc>
                  <a:txBody>
                    <a:bodyPr wrap="square">
                      <a:noAutofit/>
                    </a:bodyPr>
                    <a:lstStyle/>
                    <a:p>
                      <a:r>
                        <a:rPr sz="1950" b="0">
                          <a:solidFill>
                            <a:srgbClr val="16233E"/>
                          </a:solidFill>
                          <a:latin typeface="IBM Plex Sans"/>
                          <a:ea typeface="IBM Plex Sans"/>
                          <a:cs typeface="IBM Plex Sans"/>
                        </a:rPr>
                        <a:t>Claude Fable 5.1 low</a:t>
                      </a:r>
                    </a:p>
                  </a:txBody>
                  <a:tcPr marL="91440" marR="91440" marT="45720" marB="45720">
                    <a:solidFill>
                      <a:srgbClr val="FFFFFF"/>
                    </a:solidFill>
                  </a:tcPr>
                </a:tc>
                <a:tc>
                  <a:txBody>
                    <a:bodyPr wrap="square">
                      <a:noAutofit/>
                    </a:bodyPr>
                    <a:lstStyle/>
                    <a:p>
                      <a:r>
                        <a:rPr sz="1950" b="0">
                          <a:solidFill>
                            <a:srgbClr val="16233E"/>
                          </a:solidFill>
                          <a:latin typeface="IBM Plex Sans"/>
                          <a:ea typeface="IBM Plex Sans"/>
                          <a:cs typeface="IBM Plex Sans"/>
                        </a:rPr>
                        <a:t>48/50</a:t>
                      </a:r>
                    </a:p>
                  </a:txBody>
                  <a:tcPr marL="91440" marR="91440" marT="45720" marB="45720">
                    <a:solidFill>
                      <a:srgbClr val="FFFFFF"/>
                    </a:solidFill>
                  </a:tcPr>
                </a:tc>
                <a:tc>
                  <a:txBody>
                    <a:bodyPr wrap="square">
                      <a:noAutofit/>
                    </a:bodyPr>
                    <a:lstStyle/>
                    <a:p>
                      <a:r>
                        <a:rPr sz="1950" b="0">
                          <a:solidFill>
                            <a:srgbClr val="16233E"/>
                          </a:solidFill>
                          <a:latin typeface="IBM Plex Sans"/>
                          <a:ea typeface="IBM Plex Sans"/>
                          <a:cs typeface="IBM Plex Sans"/>
                        </a:rPr>
                        <a:t>2/43</a:t>
                      </a:r>
                    </a:p>
                  </a:txBody>
                  <a:tcPr marL="91440" marR="91440" marT="45720" marB="45720">
                    <a:solidFill>
                      <a:srgbClr val="FFFFFF"/>
                    </a:solidFill>
                  </a:tcPr>
                </a:tc>
                <a:tc>
                  <a:txBody>
                    <a:bodyPr wrap="square">
                      <a:noAutofit/>
                    </a:bodyPr>
                    <a:lstStyle/>
                    <a:p>
                      <a:r>
                        <a:rPr sz="1950" b="0">
                          <a:solidFill>
                            <a:srgbClr val="16233E"/>
                          </a:solidFill>
                          <a:latin typeface="IBM Plex Sans"/>
                          <a:ea typeface="IBM Plex Sans"/>
                          <a:cs typeface="IBM Plex Sans"/>
                        </a:rPr>
                        <a:t>0/25</a:t>
                      </a:r>
                    </a:p>
                  </a:txBody>
                  <a:tcPr marL="91440" marR="91440" marT="45720" marB="45720">
                    <a:solidFill>
                      <a:srgbClr val="FFFFFF"/>
                    </a:solidFill>
                  </a:tcPr>
                </a:tc>
              </a:tr>
              <a:tr h="714375">
                <a:tc>
                  <a:txBody>
                    <a:bodyPr wrap="square">
                      <a:noAutofit/>
                    </a:bodyPr>
                    <a:lstStyle/>
                    <a:p>
                      <a:r>
                        <a:rPr sz="1950" b="0">
                          <a:solidFill>
                            <a:srgbClr val="16233E"/>
                          </a:solidFill>
                          <a:latin typeface="IBM Plex Sans"/>
                          <a:ea typeface="IBM Plex Sans"/>
                          <a:cs typeface="IBM Plex Sans"/>
                        </a:rPr>
                        <a:t>GPT-6 Astra xhigh/max</a:t>
                      </a:r>
                    </a:p>
                  </a:txBody>
                  <a:tcPr marL="91440" marR="91440" marT="45720" marB="45720">
                    <a:solidFill>
                      <a:srgbClr val="F5F3ED"/>
                    </a:solidFill>
                  </a:tcPr>
                </a:tc>
                <a:tc>
                  <a:txBody>
                    <a:bodyPr wrap="square">
                      <a:noAutofit/>
                    </a:bodyPr>
                    <a:lstStyle/>
                    <a:p>
                      <a:r>
                        <a:rPr sz="1950" b="0">
                          <a:solidFill>
                            <a:srgbClr val="16233E"/>
                          </a:solidFill>
                          <a:latin typeface="IBM Plex Sans"/>
                          <a:ea typeface="IBM Plex Sans"/>
                          <a:cs typeface="IBM Plex Sans"/>
                        </a:rPr>
                        <a:t>47/50 each</a:t>
                      </a:r>
                    </a:p>
                  </a:txBody>
                  <a:tcPr marL="91440" marR="91440" marT="45720" marB="45720">
                    <a:solidFill>
                      <a:srgbClr val="F5F3ED"/>
                    </a:solidFill>
                  </a:tcPr>
                </a:tc>
                <a:tc>
                  <a:txBody>
                    <a:bodyPr wrap="square">
                      <a:noAutofit/>
                    </a:bodyPr>
                    <a:lstStyle/>
                    <a:p>
                      <a:r>
                        <a:rPr sz="1950" b="0">
                          <a:solidFill>
                            <a:srgbClr val="16233E"/>
                          </a:solidFill>
                          <a:latin typeface="IBM Plex Sans"/>
                          <a:ea typeface="IBM Plex Sans"/>
                          <a:cs typeface="IBM Plex Sans"/>
                        </a:rPr>
                        <a:t>3/43 each</a:t>
                      </a:r>
                    </a:p>
                  </a:txBody>
                  <a:tcPr marL="91440" marR="91440" marT="45720" marB="45720">
                    <a:solidFill>
                      <a:srgbClr val="F5F3ED"/>
                    </a:solidFill>
                  </a:tcPr>
                </a:tc>
                <a:tc>
                  <a:txBody>
                    <a:bodyPr wrap="square">
                      <a:noAutofit/>
                    </a:bodyPr>
                    <a:lstStyle/>
                    <a:p>
                      <a:r>
                        <a:rPr sz="1950" b="0">
                          <a:solidFill>
                            <a:srgbClr val="16233E"/>
                          </a:solidFill>
                          <a:latin typeface="IBM Plex Sans"/>
                          <a:ea typeface="IBM Plex Sans"/>
                          <a:cs typeface="IBM Plex Sans"/>
                        </a:rPr>
                        <a:t>0/25 each</a:t>
                      </a:r>
                    </a:p>
                  </a:txBody>
                  <a:tcPr marL="91440" marR="91440" marT="45720" marB="45720">
                    <a:solidFill>
                      <a:srgbClr val="F5F3ED"/>
                    </a:solidFill>
                  </a:tcPr>
                </a:tc>
              </a:tr>
              <a:tr h="714375">
                <a:tc>
                  <a:txBody>
                    <a:bodyPr wrap="square">
                      <a:noAutofit/>
                    </a:bodyPr>
                    <a:lstStyle/>
                    <a:p>
                      <a:r>
                        <a:rPr sz="1950" b="0">
                          <a:solidFill>
                            <a:srgbClr val="16233E"/>
                          </a:solidFill>
                          <a:latin typeface="IBM Plex Sans"/>
                          <a:ea typeface="IBM Plex Sans"/>
                          <a:cs typeface="IBM Plex Sans"/>
                        </a:rPr>
                        <a:t>MedGemma 27B Q5_K_M</a:t>
                      </a:r>
                    </a:p>
                  </a:txBody>
                  <a:tcPr marL="91440" marR="91440" marT="45720" marB="45720">
                    <a:solidFill>
                      <a:srgbClr val="FFFFFF"/>
                    </a:solidFill>
                  </a:tcPr>
                </a:tc>
                <a:tc>
                  <a:txBody>
                    <a:bodyPr wrap="square">
                      <a:noAutofit/>
                    </a:bodyPr>
                    <a:lstStyle/>
                    <a:p>
                      <a:r>
                        <a:rPr sz="1950" b="0">
                          <a:solidFill>
                            <a:srgbClr val="16233E"/>
                          </a:solidFill>
                          <a:latin typeface="IBM Plex Sans"/>
                          <a:ea typeface="IBM Plex Sans"/>
                          <a:cs typeface="IBM Plex Sans"/>
                        </a:rPr>
                        <a:t>46/50</a:t>
                      </a:r>
                    </a:p>
                  </a:txBody>
                  <a:tcPr marL="91440" marR="91440" marT="45720" marB="45720">
                    <a:solidFill>
                      <a:srgbClr val="FFFFFF"/>
                    </a:solidFill>
                  </a:tcPr>
                </a:tc>
                <a:tc>
                  <a:txBody>
                    <a:bodyPr wrap="square">
                      <a:noAutofit/>
                    </a:bodyPr>
                    <a:lstStyle/>
                    <a:p>
                      <a:r>
                        <a:rPr sz="1950" b="0">
                          <a:solidFill>
                            <a:srgbClr val="16233E"/>
                          </a:solidFill>
                          <a:latin typeface="IBM Plex Sans"/>
                          <a:ea typeface="IBM Plex Sans"/>
                          <a:cs typeface="IBM Plex Sans"/>
                        </a:rPr>
                        <a:t>0/43</a:t>
                      </a:r>
                    </a:p>
                  </a:txBody>
                  <a:tcPr marL="91440" marR="91440" marT="45720" marB="45720">
                    <a:solidFill>
                      <a:srgbClr val="FFFFFF"/>
                    </a:solidFill>
                  </a:tcPr>
                </a:tc>
                <a:tc>
                  <a:txBody>
                    <a:bodyPr wrap="square">
                      <a:noAutofit/>
                    </a:bodyPr>
                    <a:lstStyle/>
                    <a:p>
                      <a:r>
                        <a:rPr sz="1950" b="0">
                          <a:solidFill>
                            <a:srgbClr val="16233E"/>
                          </a:solidFill>
                          <a:latin typeface="IBM Plex Sans"/>
                          <a:ea typeface="IBM Plex Sans"/>
                          <a:cs typeface="IBM Plex Sans"/>
                        </a:rPr>
                        <a:t>1/25</a:t>
                      </a:r>
                    </a:p>
                  </a:txBody>
                  <a:tcPr marL="91440" marR="91440" marT="45720" marB="45720">
                    <a:solidFill>
                      <a:srgbClr val="FFFFFF"/>
                    </a:solidFill>
                  </a:tcPr>
                </a:tc>
              </a:tr>
            </a:tbl>
          </a:graphicData>
        </a:graphic>
      </p:graphicFrame>
      <p:sp>
        <p:nvSpPr>
          <p:cNvPr id="3" name="Even frontier models missed clinician review: Claude Fa">
            <a:extLst xmlns:a="http://schemas.openxmlformats.org/drawingml/2006/main">
              <a:ext uri="{FF2B5EF4-FFF2-40B4-BE49-F238E27FC236}">
                <a16:creationId xmlns:a16="http://schemas.microsoft.com/office/drawing/2014/main" id="{7494870C-B411-402D-990F-99651FF3FDD1}"/>
              </a:ext>
            </a:extLst>
          </p:cNvPr>
          <p:cNvSpPr>
            <a:spLocks xmlns:a="http://schemas.openxmlformats.org/drawingml/2006/main" noGrp="1"/>
          </p:cNvSpPr>
          <p:nvPr/>
        </p:nvSpPr>
        <p:spPr>
          <a:xfrm xmlns:a="http://schemas.openxmlformats.org/drawingml/2006/main">
            <a:off x="762000" y="5029200"/>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87D73"/>
                </a:solidFill>
                <a:latin typeface="IBM Plex Sans"/>
                <a:ea typeface="IBM Plex Sans"/>
                <a:cs typeface="IBM Plex Sans"/>
              </a:defRPr>
            </a:pPr>
            <a:r>
              <a:rPr sz="2175" b="1">
                <a:solidFill>
                  <a:srgbClr val="187D73"/>
                </a:solidFill>
                <a:latin typeface="IBM Plex Sans"/>
                <a:ea typeface="IBM Plex Sans"/>
                <a:cs typeface="IBM Plex Sans"/>
              </a:rPr>
              <a:t>Even frontier models missed clinician review: Claude Fable 5.1 missed 2 of 43 cases needing action, and GPT-6 Astra missed 3.</a:t>
            </a:r>
          </a:p>
        </p:txBody>
      </p:sp>
      <p:sp>
        <p:nvSpPr>
          <p:cNvPr id="4" name="Clinician action = any clinician review. Urgent action ">
            <a:extLst xmlns:a="http://schemas.openxmlformats.org/drawingml/2006/main">
              <a:ext uri="{FF2B5EF4-FFF2-40B4-BE49-F238E27FC236}">
                <a16:creationId xmlns:a16="http://schemas.microsoft.com/office/drawing/2014/main" id="{0760A6F4-2E71-4BFA-86B4-A7314932E5ED}"/>
              </a:ext>
            </a:extLst>
          </p:cNvPr>
          <p:cNvSpPr>
            <a:spLocks xmlns:a="http://schemas.openxmlformats.org/drawingml/2006/main" noGrp="1"/>
          </p:cNvSpPr>
          <p:nvPr/>
        </p:nvSpPr>
        <p:spPr>
          <a:xfrm xmlns:a="http://schemas.openxmlformats.org/drawingml/2006/main">
            <a:off x="762000" y="604837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b="0">
                <a:solidFill>
                  <a:srgbClr val="596475"/>
                </a:solidFill>
                <a:latin typeface="IBM Plex Sans"/>
                <a:ea typeface="IBM Plex Sans"/>
                <a:cs typeface="IBM Plex Sans"/>
              </a:defRPr>
            </a:pPr>
            <a:r>
              <a:rPr sz="1275" b="0">
                <a:solidFill>
                  <a:srgbClr val="596475"/>
                </a:solidFill>
                <a:latin typeface="IBM Plex Sans"/>
                <a:ea typeface="IBM Plex Sans"/>
                <a:cs typeface="IBM Plex Sans"/>
              </a:rPr>
              <a:t>Clinician action = any clinician review. Urgent action = urgent/same-day escalation.</a:t>
            </a:r>
          </a:p>
        </p:txBody>
      </p:sp>
      <p:sp>
        <p:nvSpPr>
          <p:cNvPr id="5" name="50 synthetic development cases; single-physician post-o">
            <a:extLst xmlns:a="http://schemas.openxmlformats.org/drawingml/2006/main">
              <a:ext uri="{FF2B5EF4-FFF2-40B4-BE49-F238E27FC236}">
                <a16:creationId xmlns:a16="http://schemas.microsoft.com/office/drawing/2014/main" id="{29A67795-11B2-417E-AC99-621681262F56}"/>
              </a:ext>
            </a:extLst>
          </p:cNvPr>
          <p:cNvSpPr>
            <a:spLocks xmlns:a="http://schemas.openxmlformats.org/drawingml/2006/main" noGrp="1"/>
          </p:cNvSpPr>
          <p:nvPr/>
        </p:nvSpPr>
        <p:spPr>
          <a:xfrm xmlns:a="http://schemas.openxmlformats.org/drawingml/2006/main">
            <a:off x="762000" y="6334125"/>
            <a:ext cx="981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b="0">
                <a:solidFill>
                  <a:srgbClr val="596475"/>
                </a:solidFill>
                <a:latin typeface="IBM Plex Sans"/>
                <a:ea typeface="IBM Plex Sans"/>
                <a:cs typeface="IBM Plex Sans"/>
              </a:defRPr>
            </a:pPr>
            <a:r>
              <a:rPr sz="1275" b="0">
                <a:solidFill>
                  <a:srgbClr val="596475"/>
                </a:solidFill>
                <a:latin typeface="IBM Plex Sans"/>
                <a:ea typeface="IBM Plex Sans"/>
                <a:cs typeface="IBM Plex Sans"/>
              </a:rPr>
              <a:t>50 synthetic development cases; single-physician post-output reference v3</a:t>
            </a:r>
          </a:p>
        </p:txBody>
      </p:sp>
      <p:sp>
        <p:nvSpPr>
          <p:cNvPr id="6" name="9 / 16">
            <a:extLst xmlns:a="http://schemas.openxmlformats.org/drawingml/2006/main">
              <a:ext uri="{FF2B5EF4-FFF2-40B4-BE49-F238E27FC236}">
                <a16:creationId xmlns:a16="http://schemas.microsoft.com/office/drawing/2014/main" id="{35F755D1-7628-45D9-BA7F-CD537C7E61E6}"/>
              </a:ext>
            </a:extLst>
          </p:cNvPr>
          <p:cNvSpPr>
            <a:spLocks xmlns:a="http://schemas.openxmlformats.org/drawingml/2006/main" noGrp="1"/>
          </p:cNvSpPr>
          <p:nvPr/>
        </p:nvSpPr>
        <p:spPr>
          <a:xfrm xmlns:a="http://schemas.openxmlformats.org/drawingml/2006/main">
            <a:off x="10791825" y="6334125"/>
            <a:ext cx="762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b="0">
                <a:solidFill>
                  <a:srgbClr val="596475"/>
                </a:solidFill>
                <a:latin typeface="IBM Plex Sans"/>
                <a:ea typeface="IBM Plex Sans"/>
                <a:cs typeface="IBM Plex Sans"/>
              </a:defRPr>
            </a:pPr>
            <a:r>
              <a:rPr sz="1275" b="0">
                <a:solidFill>
                  <a:srgbClr val="596475"/>
                </a:solidFill>
                <a:latin typeface="IBM Plex Sans"/>
                <a:ea typeface="IBM Plex Sans"/>
                <a:cs typeface="IBM Plex Sans"/>
              </a:rPr>
              <a:t>9 / 16</a:t>
            </a:r>
          </a:p>
        </p:txBody>
      </p:sp>
    </p:spTree>
    <p:extLst>
      <p:ext uri="{BB962C8B-B14F-4D97-AF65-F5344CB8AC3E}">
        <p14:creationId xmlns:p14="http://schemas.microsoft.com/office/powerpoint/2010/main" val="711552646"/>
      </p:ext>
    </p:extLst>
  </p:cSld>
</p:sld>
</file>

<file path=ppt/slides/slide10.xml><?xml version="1.0" encoding="utf-8"?>
<p:sld xmlns:p="http://schemas.openxmlformats.org/presentationml/2006/main">
  <p:cSld>
    <p:bg>
      <p:bgPr>
        <a:solidFill xmlns:a="http://schemas.openxmlformats.org/drawingml/2006/main">
          <a:srgbClr val="F5F3ED"/>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B4426E77-8B07-406B-8369-38238FBCBCC2}"/>
              </a:ext>
            </a:extLst>
          </p:cNvPr>
          <p:cNvSpPr>
            <a:spLocks xmlns:a="http://schemas.openxmlformats.org/drawingml/2006/main" noGrp="1"/>
          </p:cNvSpPr>
          <p:nvPr/>
        </p:nvSpPr>
        <p:spPr>
          <a:xfrm xmlns:a="http://schemas.openxmlformats.org/drawingml/2006/main">
            <a:off x="762000" y="609600"/>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450" b="1">
                <a:solidFill>
                  <a:srgbClr val="16233E"/>
                </a:solidFill>
                <a:latin typeface="IBM Plex Sans"/>
                <a:ea typeface="IBM Plex Sans"/>
                <a:cs typeface="IBM Plex Sans"/>
              </a:defRPr>
            </a:pPr>
            <a:r>
              <a:rPr sz="3450" b="1">
                <a:solidFill>
                  <a:srgbClr val="16233E"/>
                </a:solidFill>
                <a:latin typeface="IBM Plex Sans"/>
                <a:ea typeface="IBM Plex Sans"/>
                <a:cs typeface="IBM Plex Sans"/>
              </a:rPr>
              <a:t>Trust but verify includes the answer key</a:t>
            </a:r>
          </a:p>
        </p:txBody>
      </p:sp>
      <p:sp>
        <p:nvSpPr>
          <p:cNvPr id="2" name="THE REFERENCE">
            <a:extLst xmlns:a="http://schemas.openxmlformats.org/drawingml/2006/main">
              <a:ext uri="{FF2B5EF4-FFF2-40B4-BE49-F238E27FC236}">
                <a16:creationId xmlns:a16="http://schemas.microsoft.com/office/drawing/2014/main" id="{27ACBCA2-659A-4B63-A40F-7C188219310E}"/>
              </a:ext>
            </a:extLst>
          </p:cNvPr>
          <p:cNvSpPr>
            <a:spLocks xmlns:a="http://schemas.openxmlformats.org/drawingml/2006/main" noGrp="1"/>
          </p:cNvSpPr>
          <p:nvPr/>
        </p:nvSpPr>
        <p:spPr>
          <a:xfrm xmlns:a="http://schemas.openxmlformats.org/drawingml/2006/main">
            <a:off x="762000" y="1685925"/>
            <a:ext cx="1028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87D73"/>
                </a:solidFill>
                <a:latin typeface="IBM Plex Sans"/>
                <a:ea typeface="IBM Plex Sans"/>
                <a:cs typeface="IBM Plex Sans"/>
              </a:defRPr>
            </a:pPr>
            <a:r>
              <a:rPr sz="2175" b="1">
                <a:solidFill>
                  <a:srgbClr val="187D73"/>
                </a:solidFill>
                <a:latin typeface="IBM Plex Sans"/>
                <a:ea typeface="IBM Plex Sans"/>
                <a:cs typeface="IBM Plex Sans"/>
              </a:rPr>
              <a:t>THE REFERENCE</a:t>
            </a:r>
          </a:p>
        </p:txBody>
      </p:sp>
      <p:sp>
        <p:nvSpPr>
          <p:cNvPr id="3" name="A revised label can change the score while the response">
            <a:extLst xmlns:a="http://schemas.openxmlformats.org/drawingml/2006/main">
              <a:ext uri="{FF2B5EF4-FFF2-40B4-BE49-F238E27FC236}">
                <a16:creationId xmlns:a16="http://schemas.microsoft.com/office/drawing/2014/main" id="{F5E1F2DA-58CF-4ACA-803C-8623972C1218}"/>
              </a:ext>
            </a:extLst>
          </p:cNvPr>
          <p:cNvSpPr>
            <a:spLocks xmlns:a="http://schemas.openxmlformats.org/drawingml/2006/main" noGrp="1"/>
          </p:cNvSpPr>
          <p:nvPr/>
        </p:nvSpPr>
        <p:spPr>
          <a:xfrm xmlns:a="http://schemas.openxmlformats.org/drawingml/2006/main">
            <a:off x="762000" y="2143125"/>
            <a:ext cx="102870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6233E"/>
                </a:solidFill>
                <a:latin typeface="IBM Plex Sans"/>
                <a:ea typeface="IBM Plex Sans"/>
                <a:cs typeface="IBM Plex Sans"/>
              </a:defRPr>
            </a:pPr>
            <a:r>
              <a:rPr sz="2250" b="0">
                <a:solidFill>
                  <a:srgbClr val="16233E"/>
                </a:solidFill>
                <a:latin typeface="IBM Plex Sans"/>
                <a:ea typeface="IBM Plex Sans"/>
                <a:cs typeface="IBM Plex Sans"/>
              </a:rPr>
              <a:t>A revised label can change the score while the response stays identical.</a:t>
            </a:r>
          </a:p>
        </p:txBody>
      </p:sp>
      <p:sp>
        <p:nvSpPr>
          <p:cNvPr id="4" name="THE REPEAT">
            <a:extLst xmlns:a="http://schemas.openxmlformats.org/drawingml/2006/main">
              <a:ext uri="{FF2B5EF4-FFF2-40B4-BE49-F238E27FC236}">
                <a16:creationId xmlns:a16="http://schemas.microsoft.com/office/drawing/2014/main" id="{4E766644-6258-4754-BCC3-D897A864E221}"/>
              </a:ext>
            </a:extLst>
          </p:cNvPr>
          <p:cNvSpPr>
            <a:spLocks xmlns:a="http://schemas.openxmlformats.org/drawingml/2006/main" noGrp="1"/>
          </p:cNvSpPr>
          <p:nvPr/>
        </p:nvSpPr>
        <p:spPr>
          <a:xfrm xmlns:a="http://schemas.openxmlformats.org/drawingml/2006/main">
            <a:off x="762000" y="3209925"/>
            <a:ext cx="1028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87D73"/>
                </a:solidFill>
                <a:latin typeface="IBM Plex Sans"/>
                <a:ea typeface="IBM Plex Sans"/>
                <a:cs typeface="IBM Plex Sans"/>
              </a:defRPr>
            </a:pPr>
            <a:r>
              <a:rPr sz="2175" b="1">
                <a:solidFill>
                  <a:srgbClr val="187D73"/>
                </a:solidFill>
                <a:latin typeface="IBM Plex Sans"/>
                <a:ea typeface="IBM Plex Sans"/>
                <a:cs typeface="IBM Plex Sans"/>
              </a:rPr>
              <a:t>THE REPEAT</a:t>
            </a:r>
          </a:p>
        </p:txBody>
      </p:sp>
      <p:sp>
        <p:nvSpPr>
          <p:cNvPr id="5" name="A saved 48/50 result was followed by 45/50 and 46/50 on">
            <a:extLst xmlns:a="http://schemas.openxmlformats.org/drawingml/2006/main">
              <a:ext uri="{FF2B5EF4-FFF2-40B4-BE49-F238E27FC236}">
                <a16:creationId xmlns:a16="http://schemas.microsoft.com/office/drawing/2014/main" id="{245DA733-F6D6-4ED0-A91E-3BA2F6EC5921}"/>
              </a:ext>
            </a:extLst>
          </p:cNvPr>
          <p:cNvSpPr>
            <a:spLocks xmlns:a="http://schemas.openxmlformats.org/drawingml/2006/main" noGrp="1"/>
          </p:cNvSpPr>
          <p:nvPr/>
        </p:nvSpPr>
        <p:spPr>
          <a:xfrm xmlns:a="http://schemas.openxmlformats.org/drawingml/2006/main">
            <a:off x="762000" y="3667125"/>
            <a:ext cx="102870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6233E"/>
                </a:solidFill>
                <a:latin typeface="IBM Plex Sans"/>
                <a:ea typeface="IBM Plex Sans"/>
                <a:cs typeface="IBM Plex Sans"/>
              </a:defRPr>
            </a:pPr>
            <a:r>
              <a:rPr sz="2250" b="0">
                <a:solidFill>
                  <a:srgbClr val="16233E"/>
                </a:solidFill>
                <a:latin typeface="IBM Plex Sans"/>
                <a:ea typeface="IBM Plex Sans"/>
                <a:cs typeface="IBM Plex Sans"/>
              </a:rPr>
              <a:t>A saved 48/50 result was followed by 45/50 and 46/50 on fresh repetitions.</a:t>
            </a:r>
          </a:p>
        </p:txBody>
      </p:sp>
      <p:sp>
        <p:nvSpPr>
          <p:cNvPr id="6" name="THE CLAIM">
            <a:extLst xmlns:a="http://schemas.openxmlformats.org/drawingml/2006/main">
              <a:ext uri="{FF2B5EF4-FFF2-40B4-BE49-F238E27FC236}">
                <a16:creationId xmlns:a16="http://schemas.microsoft.com/office/drawing/2014/main" id="{29974FD1-9932-45AB-82EE-F83B83B4085E}"/>
              </a:ext>
            </a:extLst>
          </p:cNvPr>
          <p:cNvSpPr>
            <a:spLocks xmlns:a="http://schemas.openxmlformats.org/drawingml/2006/main" noGrp="1"/>
          </p:cNvSpPr>
          <p:nvPr/>
        </p:nvSpPr>
        <p:spPr>
          <a:xfrm xmlns:a="http://schemas.openxmlformats.org/drawingml/2006/main">
            <a:off x="762000" y="4743450"/>
            <a:ext cx="1028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87D73"/>
                </a:solidFill>
                <a:latin typeface="IBM Plex Sans"/>
                <a:ea typeface="IBM Plex Sans"/>
                <a:cs typeface="IBM Plex Sans"/>
              </a:defRPr>
            </a:pPr>
            <a:r>
              <a:rPr sz="2175" b="1">
                <a:solidFill>
                  <a:srgbClr val="187D73"/>
                </a:solidFill>
                <a:latin typeface="IBM Plex Sans"/>
                <a:ea typeface="IBM Plex Sans"/>
                <a:cs typeface="IBM Plex Sans"/>
              </a:rPr>
              <a:t>THE CLAIM</a:t>
            </a:r>
          </a:p>
        </p:txBody>
      </p:sp>
      <p:sp>
        <p:nvSpPr>
          <p:cNvPr id="7" name="Report the version, denominator and limits beside the r">
            <a:extLst xmlns:a="http://schemas.openxmlformats.org/drawingml/2006/main">
              <a:ext uri="{FF2B5EF4-FFF2-40B4-BE49-F238E27FC236}">
                <a16:creationId xmlns:a16="http://schemas.microsoft.com/office/drawing/2014/main" id="{D8DFAA80-6977-4CE1-A699-C9F33931838B}"/>
              </a:ext>
            </a:extLst>
          </p:cNvPr>
          <p:cNvSpPr>
            <a:spLocks xmlns:a="http://schemas.openxmlformats.org/drawingml/2006/main" noGrp="1"/>
          </p:cNvSpPr>
          <p:nvPr/>
        </p:nvSpPr>
        <p:spPr>
          <a:xfrm xmlns:a="http://schemas.openxmlformats.org/drawingml/2006/main">
            <a:off x="762000" y="5200650"/>
            <a:ext cx="102870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6233E"/>
                </a:solidFill>
                <a:latin typeface="IBM Plex Sans"/>
                <a:ea typeface="IBM Plex Sans"/>
                <a:cs typeface="IBM Plex Sans"/>
              </a:defRPr>
            </a:pPr>
            <a:r>
              <a:rPr sz="2250" b="0">
                <a:solidFill>
                  <a:srgbClr val="16233E"/>
                </a:solidFill>
                <a:latin typeface="IBM Plex Sans"/>
                <a:ea typeface="IBM Plex Sans"/>
                <a:cs typeface="IBM Plex Sans"/>
              </a:rPr>
              <a:t>Report the version, denominator and limits beside the result.</a:t>
            </a:r>
          </a:p>
        </p:txBody>
      </p:sp>
      <p:sp>
        <p:nvSpPr>
          <p:cNvPr id="8" name="Brandon Dent, MD   /   BIOM 7109/8109">
            <a:extLst xmlns:a="http://schemas.openxmlformats.org/drawingml/2006/main">
              <a:ext uri="{FF2B5EF4-FFF2-40B4-BE49-F238E27FC236}">
                <a16:creationId xmlns:a16="http://schemas.microsoft.com/office/drawing/2014/main" id="{A0A60CCF-7959-43A5-8245-655D1943962B}"/>
              </a:ext>
            </a:extLst>
          </p:cNvPr>
          <p:cNvSpPr>
            <a:spLocks xmlns:a="http://schemas.openxmlformats.org/drawingml/2006/main" noGrp="1"/>
          </p:cNvSpPr>
          <p:nvPr/>
        </p:nvSpPr>
        <p:spPr>
          <a:xfrm xmlns:a="http://schemas.openxmlformats.org/drawingml/2006/main">
            <a:off x="762000" y="6334125"/>
            <a:ext cx="981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b="0">
                <a:solidFill>
                  <a:srgbClr val="596475"/>
                </a:solidFill>
                <a:latin typeface="IBM Plex Sans"/>
                <a:ea typeface="IBM Plex Sans"/>
                <a:cs typeface="IBM Plex Sans"/>
              </a:defRPr>
            </a:pPr>
            <a:r>
              <a:rPr sz="1275" b="0">
                <a:solidFill>
                  <a:srgbClr val="596475"/>
                </a:solidFill>
                <a:latin typeface="IBM Plex Sans"/>
                <a:ea typeface="IBM Plex Sans"/>
                <a:cs typeface="IBM Plex Sans"/>
              </a:rPr>
              <a:t>Brandon Dent, MD   /   BIOM 7109/8109</a:t>
            </a:r>
          </a:p>
        </p:txBody>
      </p:sp>
      <p:sp>
        <p:nvSpPr>
          <p:cNvPr id="9" name="10 / 16">
            <a:extLst xmlns:a="http://schemas.openxmlformats.org/drawingml/2006/main">
              <a:ext uri="{FF2B5EF4-FFF2-40B4-BE49-F238E27FC236}">
                <a16:creationId xmlns:a16="http://schemas.microsoft.com/office/drawing/2014/main" id="{2EF8EB2C-66F3-47AD-B9AB-EAF6D7BC3FB7}"/>
              </a:ext>
            </a:extLst>
          </p:cNvPr>
          <p:cNvSpPr>
            <a:spLocks xmlns:a="http://schemas.openxmlformats.org/drawingml/2006/main" noGrp="1"/>
          </p:cNvSpPr>
          <p:nvPr/>
        </p:nvSpPr>
        <p:spPr>
          <a:xfrm xmlns:a="http://schemas.openxmlformats.org/drawingml/2006/main">
            <a:off x="10791825" y="6334125"/>
            <a:ext cx="762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b="0">
                <a:solidFill>
                  <a:srgbClr val="596475"/>
                </a:solidFill>
                <a:latin typeface="IBM Plex Sans"/>
                <a:ea typeface="IBM Plex Sans"/>
                <a:cs typeface="IBM Plex Sans"/>
              </a:defRPr>
            </a:pPr>
            <a:r>
              <a:rPr sz="1275" b="0">
                <a:solidFill>
                  <a:srgbClr val="596475"/>
                </a:solidFill>
                <a:latin typeface="IBM Plex Sans"/>
                <a:ea typeface="IBM Plex Sans"/>
                <a:cs typeface="IBM Plex Sans"/>
              </a:rPr>
              <a:t>10 / 16</a:t>
            </a:r>
          </a:p>
        </p:txBody>
      </p:sp>
    </p:spTree>
    <p:extLst>
      <p:ext uri="{BB962C8B-B14F-4D97-AF65-F5344CB8AC3E}">
        <p14:creationId xmlns:p14="http://schemas.microsoft.com/office/powerpoint/2010/main" val="622529198"/>
      </p:ext>
    </p:extLst>
  </p:cSld>
</p:sld>
</file>

<file path=ppt/slides/slide11.xml><?xml version="1.0" encoding="utf-8"?>
<p:sld xmlns:p="http://schemas.openxmlformats.org/presentationml/2006/main">
  <p:cSld>
    <p:bg>
      <p:bgPr>
        <a:solidFill xmlns:a="http://schemas.openxmlformats.org/drawingml/2006/main">
          <a:srgbClr val="F5F3ED"/>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4D35D28C-5396-4203-AFCB-1CA72CB77AA5}"/>
              </a:ext>
            </a:extLst>
          </p:cNvPr>
          <p:cNvSpPr>
            <a:spLocks xmlns:a="http://schemas.openxmlformats.org/drawingml/2006/main" noGrp="1"/>
          </p:cNvSpPr>
          <p:nvPr/>
        </p:nvSpPr>
        <p:spPr>
          <a:xfrm xmlns:a="http://schemas.openxmlformats.org/drawingml/2006/main">
            <a:off x="762000" y="609600"/>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450" b="1">
                <a:solidFill>
                  <a:srgbClr val="16233E"/>
                </a:solidFill>
                <a:latin typeface="IBM Plex Sans"/>
                <a:ea typeface="IBM Plex Sans"/>
                <a:cs typeface="IBM Plex Sans"/>
              </a:defRPr>
            </a:pPr>
            <a:r>
              <a:rPr sz="3450" b="1">
                <a:solidFill>
                  <a:srgbClr val="16233E"/>
                </a:solidFill>
                <a:latin typeface="IBM Plex Sans"/>
                <a:ea typeface="IBM Plex Sans"/>
                <a:cs typeface="IBM Plex Sans"/>
              </a:rPr>
              <a:t>Safety can fail across a conversation</a:t>
            </a:r>
          </a:p>
        </p:txBody>
      </p:sp>
      <p:sp>
        <p:nvSpPr>
          <p:cNvPr id="2" name="Synthetic example: a 3-week-old infant with fever">
            <a:extLst xmlns:a="http://schemas.openxmlformats.org/drawingml/2006/main">
              <a:ext uri="{FF2B5EF4-FFF2-40B4-BE49-F238E27FC236}">
                <a16:creationId xmlns:a16="http://schemas.microsoft.com/office/drawing/2014/main" id="{38CBCCB1-FA04-40A7-A04C-2341FCC8A122}"/>
              </a:ext>
            </a:extLst>
          </p:cNvPr>
          <p:cNvSpPr>
            <a:spLocks xmlns:a="http://schemas.openxmlformats.org/drawingml/2006/main" noGrp="1"/>
          </p:cNvSpPr>
          <p:nvPr/>
        </p:nvSpPr>
        <p:spPr>
          <a:xfrm xmlns:a="http://schemas.openxmlformats.org/drawingml/2006/main">
            <a:off x="762000" y="1685925"/>
            <a:ext cx="1057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596475"/>
                </a:solidFill>
                <a:latin typeface="IBM Plex Sans"/>
                <a:ea typeface="IBM Plex Sans"/>
                <a:cs typeface="IBM Plex Sans"/>
              </a:defRPr>
            </a:pPr>
            <a:r>
              <a:rPr sz="1950" b="0">
                <a:solidFill>
                  <a:srgbClr val="596475"/>
                </a:solidFill>
                <a:latin typeface="IBM Plex Sans"/>
                <a:ea typeface="IBM Plex Sans"/>
                <a:cs typeface="IBM Plex Sans"/>
              </a:rPr>
              <a:t>Synthetic example: a 3-week-old infant with fever</a:t>
            </a:r>
          </a:p>
        </p:txBody>
      </p:sp>
      <p:sp>
        <p:nvSpPr>
          <p:cNvPr id="3" name="INITIAL ANSWER">
            <a:extLst xmlns:a="http://schemas.openxmlformats.org/drawingml/2006/main">
              <a:ext uri="{FF2B5EF4-FFF2-40B4-BE49-F238E27FC236}">
                <a16:creationId xmlns:a16="http://schemas.microsoft.com/office/drawing/2014/main" id="{451E4724-BE64-4609-97FD-646FAE1CD978}"/>
              </a:ext>
            </a:extLst>
          </p:cNvPr>
          <p:cNvSpPr>
            <a:spLocks xmlns:a="http://schemas.openxmlformats.org/drawingml/2006/main" noGrp="1"/>
          </p:cNvSpPr>
          <p:nvPr/>
        </p:nvSpPr>
        <p:spPr>
          <a:xfrm xmlns:a="http://schemas.openxmlformats.org/drawingml/2006/main">
            <a:off x="762000" y="2333625"/>
            <a:ext cx="1028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87D73"/>
                </a:solidFill>
                <a:latin typeface="IBM Plex Sans"/>
                <a:ea typeface="IBM Plex Sans"/>
                <a:cs typeface="IBM Plex Sans"/>
              </a:defRPr>
            </a:pPr>
            <a:r>
              <a:rPr sz="2175" b="1">
                <a:solidFill>
                  <a:srgbClr val="187D73"/>
                </a:solidFill>
                <a:latin typeface="IBM Plex Sans"/>
                <a:ea typeface="IBM Plex Sans"/>
                <a:cs typeface="IBM Plex Sans"/>
              </a:rPr>
              <a:t>INITIAL ANSWER</a:t>
            </a:r>
          </a:p>
        </p:txBody>
      </p:sp>
      <p:sp>
        <p:nvSpPr>
          <p:cNvPr id="4" name="“Call emergency services (911) for an ambulance...”">
            <a:extLst xmlns:a="http://schemas.openxmlformats.org/drawingml/2006/main">
              <a:ext uri="{FF2B5EF4-FFF2-40B4-BE49-F238E27FC236}">
                <a16:creationId xmlns:a16="http://schemas.microsoft.com/office/drawing/2014/main" id="{AB1337CD-FC4B-4F47-A341-6235FC02A3C1}"/>
              </a:ext>
            </a:extLst>
          </p:cNvPr>
          <p:cNvSpPr>
            <a:spLocks xmlns:a="http://schemas.openxmlformats.org/drawingml/2006/main" noGrp="1"/>
          </p:cNvSpPr>
          <p:nvPr/>
        </p:nvSpPr>
        <p:spPr>
          <a:xfrm xmlns:a="http://schemas.openxmlformats.org/drawingml/2006/main">
            <a:off x="762000" y="2790825"/>
            <a:ext cx="102870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6233E"/>
                </a:solidFill>
                <a:latin typeface="IBM Plex Sans"/>
                <a:ea typeface="IBM Plex Sans"/>
                <a:cs typeface="IBM Plex Sans"/>
              </a:defRPr>
            </a:pPr>
            <a:r>
              <a:rPr sz="2250" b="0">
                <a:solidFill>
                  <a:srgbClr val="16233E"/>
                </a:solidFill>
                <a:latin typeface="IBM Plex Sans"/>
                <a:ea typeface="IBM Plex Sans"/>
                <a:cs typeface="IBM Plex Sans"/>
              </a:rPr>
              <a:t>“Call emergency services (911) for an ambulance...”</a:t>
            </a:r>
          </a:p>
        </p:txBody>
      </p:sp>
      <p:sp>
        <p:nvSpPr>
          <p:cNvPr id="5" name="PARENT PUSHBACK">
            <a:extLst xmlns:a="http://schemas.openxmlformats.org/drawingml/2006/main">
              <a:ext uri="{FF2B5EF4-FFF2-40B4-BE49-F238E27FC236}">
                <a16:creationId xmlns:a16="http://schemas.microsoft.com/office/drawing/2014/main" id="{49095FBE-088E-4CCD-A772-0E1058A6C7B1}"/>
              </a:ext>
            </a:extLst>
          </p:cNvPr>
          <p:cNvSpPr>
            <a:spLocks xmlns:a="http://schemas.openxmlformats.org/drawingml/2006/main" noGrp="1"/>
          </p:cNvSpPr>
          <p:nvPr/>
        </p:nvSpPr>
        <p:spPr>
          <a:xfrm xmlns:a="http://schemas.openxmlformats.org/drawingml/2006/main">
            <a:off x="762000" y="3571875"/>
            <a:ext cx="1028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87D73"/>
                </a:solidFill>
                <a:latin typeface="IBM Plex Sans"/>
                <a:ea typeface="IBM Plex Sans"/>
                <a:cs typeface="IBM Plex Sans"/>
              </a:defRPr>
            </a:pPr>
            <a:r>
              <a:rPr sz="2175" b="1">
                <a:solidFill>
                  <a:srgbClr val="187D73"/>
                </a:solidFill>
                <a:latin typeface="IBM Plex Sans"/>
                <a:ea typeface="IBM Plex Sans"/>
                <a:cs typeface="IBM Plex Sans"/>
              </a:rPr>
              <a:t>PARENT PUSHBACK</a:t>
            </a:r>
          </a:p>
        </p:txBody>
      </p:sp>
      <p:sp>
        <p:nvSpPr>
          <p:cNvPr id="6" name="“Calling 911 seems extreme — he’s not in distress, just">
            <a:extLst xmlns:a="http://schemas.openxmlformats.org/drawingml/2006/main">
              <a:ext uri="{FF2B5EF4-FFF2-40B4-BE49-F238E27FC236}">
                <a16:creationId xmlns:a16="http://schemas.microsoft.com/office/drawing/2014/main" id="{F61B66DC-FF18-41A6-AC7A-9A3A75CA7C9B}"/>
              </a:ext>
            </a:extLst>
          </p:cNvPr>
          <p:cNvSpPr>
            <a:spLocks xmlns:a="http://schemas.openxmlformats.org/drawingml/2006/main" noGrp="1"/>
          </p:cNvSpPr>
          <p:nvPr/>
        </p:nvSpPr>
        <p:spPr>
          <a:xfrm xmlns:a="http://schemas.openxmlformats.org/drawingml/2006/main">
            <a:off x="762000" y="4029075"/>
            <a:ext cx="102870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6233E"/>
                </a:solidFill>
                <a:latin typeface="IBM Plex Sans"/>
                <a:ea typeface="IBM Plex Sans"/>
                <a:cs typeface="IBM Plex Sans"/>
              </a:defRPr>
            </a:pPr>
            <a:r>
              <a:rPr sz="2250" b="0">
                <a:solidFill>
                  <a:srgbClr val="16233E"/>
                </a:solidFill>
                <a:latin typeface="IBM Plex Sans"/>
                <a:ea typeface="IBM Plex Sans"/>
                <a:cs typeface="IBM Plex Sans"/>
              </a:rPr>
              <a:t>“Calling 911 seems extreme — he’s not in distress, just sleepy.”</a:t>
            </a:r>
          </a:p>
        </p:txBody>
      </p:sp>
      <p:sp>
        <p:nvSpPr>
          <p:cNvPr id="7" name="LATER ANSWER">
            <a:extLst xmlns:a="http://schemas.openxmlformats.org/drawingml/2006/main">
              <a:ext uri="{FF2B5EF4-FFF2-40B4-BE49-F238E27FC236}">
                <a16:creationId xmlns:a16="http://schemas.microsoft.com/office/drawing/2014/main" id="{EB47F9BE-A9DE-40B6-B337-D9D224532132}"/>
              </a:ext>
            </a:extLst>
          </p:cNvPr>
          <p:cNvSpPr>
            <a:spLocks xmlns:a="http://schemas.openxmlformats.org/drawingml/2006/main" noGrp="1"/>
          </p:cNvSpPr>
          <p:nvPr/>
        </p:nvSpPr>
        <p:spPr>
          <a:xfrm xmlns:a="http://schemas.openxmlformats.org/drawingml/2006/main">
            <a:off x="762000" y="4819650"/>
            <a:ext cx="1028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87D73"/>
                </a:solidFill>
                <a:latin typeface="IBM Plex Sans"/>
                <a:ea typeface="IBM Plex Sans"/>
                <a:cs typeface="IBM Plex Sans"/>
              </a:defRPr>
            </a:pPr>
            <a:r>
              <a:rPr sz="2175" b="1">
                <a:solidFill>
                  <a:srgbClr val="187D73"/>
                </a:solidFill>
                <a:latin typeface="IBM Plex Sans"/>
                <a:ea typeface="IBM Plex Sans"/>
                <a:cs typeface="IBM Plex Sans"/>
              </a:rPr>
              <a:t>LATER ANSWER</a:t>
            </a:r>
          </a:p>
        </p:txBody>
      </p:sp>
      <p:sp>
        <p:nvSpPr>
          <p:cNvPr id="8" name="“If you absolutely refuse to go tonight... watch for...">
            <a:extLst xmlns:a="http://schemas.openxmlformats.org/drawingml/2006/main">
              <a:ext uri="{FF2B5EF4-FFF2-40B4-BE49-F238E27FC236}">
                <a16:creationId xmlns:a16="http://schemas.microsoft.com/office/drawing/2014/main" id="{DEF395E4-156E-4ACD-A865-351D5DB68BAC}"/>
              </a:ext>
            </a:extLst>
          </p:cNvPr>
          <p:cNvSpPr>
            <a:spLocks xmlns:a="http://schemas.openxmlformats.org/drawingml/2006/main" noGrp="1"/>
          </p:cNvSpPr>
          <p:nvPr/>
        </p:nvSpPr>
        <p:spPr>
          <a:xfrm xmlns:a="http://schemas.openxmlformats.org/drawingml/2006/main">
            <a:off x="762000" y="5276850"/>
            <a:ext cx="102870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6233E"/>
                </a:solidFill>
                <a:latin typeface="IBM Plex Sans"/>
                <a:ea typeface="IBM Plex Sans"/>
                <a:cs typeface="IBM Plex Sans"/>
              </a:defRPr>
            </a:pPr>
            <a:r>
              <a:rPr sz="2250" b="0">
                <a:solidFill>
                  <a:srgbClr val="16233E"/>
                </a:solidFill>
                <a:latin typeface="IBM Plex Sans"/>
                <a:ea typeface="IBM Plex Sans"/>
                <a:cs typeface="IBM Plex Sans"/>
              </a:rPr>
              <a:t>“If you absolutely refuse to go tonight... watch for...”</a:t>
            </a:r>
          </a:p>
        </p:txBody>
      </p:sp>
      <p:sp>
        <p:nvSpPr>
          <p:cNvPr id="9" name="Brandon Dent, MD   /   BIOM 7109/8109">
            <a:extLst xmlns:a="http://schemas.openxmlformats.org/drawingml/2006/main">
              <a:ext uri="{FF2B5EF4-FFF2-40B4-BE49-F238E27FC236}">
                <a16:creationId xmlns:a16="http://schemas.microsoft.com/office/drawing/2014/main" id="{EB1FB4E6-65C4-48C3-BD00-A4C714E29D4A}"/>
              </a:ext>
            </a:extLst>
          </p:cNvPr>
          <p:cNvSpPr>
            <a:spLocks xmlns:a="http://schemas.openxmlformats.org/drawingml/2006/main" noGrp="1"/>
          </p:cNvSpPr>
          <p:nvPr/>
        </p:nvSpPr>
        <p:spPr>
          <a:xfrm xmlns:a="http://schemas.openxmlformats.org/drawingml/2006/main">
            <a:off x="762000" y="6334125"/>
            <a:ext cx="981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b="0">
                <a:solidFill>
                  <a:srgbClr val="596475"/>
                </a:solidFill>
                <a:latin typeface="IBM Plex Sans"/>
                <a:ea typeface="IBM Plex Sans"/>
                <a:cs typeface="IBM Plex Sans"/>
              </a:defRPr>
            </a:pPr>
            <a:r>
              <a:rPr sz="1275" b="0">
                <a:solidFill>
                  <a:srgbClr val="596475"/>
                </a:solidFill>
                <a:latin typeface="IBM Plex Sans"/>
                <a:ea typeface="IBM Plex Sans"/>
                <a:cs typeface="IBM Plex Sans"/>
              </a:rPr>
              <a:t>Brandon Dent, MD   /   BIOM 7109/8109</a:t>
            </a:r>
          </a:p>
        </p:txBody>
      </p:sp>
      <p:sp>
        <p:nvSpPr>
          <p:cNvPr id="10" name="11 / 16">
            <a:extLst xmlns:a="http://schemas.openxmlformats.org/drawingml/2006/main">
              <a:ext uri="{FF2B5EF4-FFF2-40B4-BE49-F238E27FC236}">
                <a16:creationId xmlns:a16="http://schemas.microsoft.com/office/drawing/2014/main" id="{0843E50F-C46F-430B-97D8-D27CF79E17A1}"/>
              </a:ext>
            </a:extLst>
          </p:cNvPr>
          <p:cNvSpPr>
            <a:spLocks xmlns:a="http://schemas.openxmlformats.org/drawingml/2006/main" noGrp="1"/>
          </p:cNvSpPr>
          <p:nvPr/>
        </p:nvSpPr>
        <p:spPr>
          <a:xfrm xmlns:a="http://schemas.openxmlformats.org/drawingml/2006/main">
            <a:off x="10791825" y="6334125"/>
            <a:ext cx="762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b="0">
                <a:solidFill>
                  <a:srgbClr val="596475"/>
                </a:solidFill>
                <a:latin typeface="IBM Plex Sans"/>
                <a:ea typeface="IBM Plex Sans"/>
                <a:cs typeface="IBM Plex Sans"/>
              </a:defRPr>
            </a:pPr>
            <a:r>
              <a:rPr sz="1275" b="0">
                <a:solidFill>
                  <a:srgbClr val="596475"/>
                </a:solidFill>
                <a:latin typeface="IBM Plex Sans"/>
                <a:ea typeface="IBM Plex Sans"/>
                <a:cs typeface="IBM Plex Sans"/>
              </a:rPr>
              <a:t>11 / 16</a:t>
            </a:r>
          </a:p>
        </p:txBody>
      </p:sp>
    </p:spTree>
    <p:extLst>
      <p:ext uri="{BB962C8B-B14F-4D97-AF65-F5344CB8AC3E}">
        <p14:creationId xmlns:p14="http://schemas.microsoft.com/office/powerpoint/2010/main" val="66593561"/>
      </p:ext>
    </p:extLst>
  </p:cSld>
</p:sld>
</file>

<file path=ppt/slides/slide12.xml><?xml version="1.0" encoding="utf-8"?>
<p:sld xmlns:p="http://schemas.openxmlformats.org/presentationml/2006/main">
  <p:cSld>
    <p:bg>
      <p:bgPr>
        <a:solidFill xmlns:a="http://schemas.openxmlformats.org/drawingml/2006/main">
          <a:srgbClr val="F5F3ED"/>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79AB05C1-A0BA-4CFF-B9A5-2A1428CD2BF3}"/>
              </a:ext>
            </a:extLst>
          </p:cNvPr>
          <p:cNvSpPr>
            <a:spLocks xmlns:a="http://schemas.openxmlformats.org/drawingml/2006/main" noGrp="1"/>
          </p:cNvSpPr>
          <p:nvPr/>
        </p:nvSpPr>
        <p:spPr>
          <a:xfrm xmlns:a="http://schemas.openxmlformats.org/drawingml/2006/main">
            <a:off x="762000" y="609600"/>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450" b="1">
                <a:solidFill>
                  <a:srgbClr val="16233E"/>
                </a:solidFill>
                <a:latin typeface="IBM Plex Sans"/>
                <a:ea typeface="IBM Plex Sans"/>
                <a:cs typeface="IBM Plex Sans"/>
              </a:defRPr>
            </a:pPr>
            <a:r>
              <a:rPr sz="3450" b="1">
                <a:solidFill>
                  <a:srgbClr val="16233E"/>
                </a:solidFill>
                <a:latin typeface="IBM Plex Sans"/>
                <a:ea typeface="IBM Plex Sans"/>
                <a:cs typeface="IBM Plex Sans"/>
              </a:rPr>
              <a:t>A safety requirement students can test</a:t>
            </a:r>
          </a:p>
        </p:txBody>
      </p:sp>
      <p:graphicFrame>
        <p:nvGraphicFramePr>
          <p:cNvPr id="7" name=""/>
          <p:cNvGraphicFramePr/>
          <p:nvPr/>
        </p:nvGraphicFramePr>
        <p:xfrm>
          <a:off xmlns:a="http://schemas.openxmlformats.org/drawingml/2006/main" x="762000" y="1838325"/>
          <a:ext xmlns:a="http://schemas.openxmlformats.org/drawingml/2006/main" cx="10668000" cy="3143250"/>
        </p:xfrm>
        <a:graphic xmlns:a="http://schemas.openxmlformats.org/drawingml/2006/main">
          <a:graphicData uri="http://schemas.openxmlformats.org/drawingml/2006/table">
            <a:tbl>
              <a:tblPr/>
              <a:tblGrid>
                <a:gridCol w="4543425"/>
                <a:gridCol w="6124575"/>
              </a:tblGrid>
              <a:tr h="785813">
                <a:tc>
                  <a:txBody>
                    <a:bodyPr wrap="square">
                      <a:noAutofit/>
                    </a:bodyPr>
                    <a:lstStyle/>
                    <a:p>
                      <a:r>
                        <a:rPr sz="1950" b="1">
                          <a:solidFill>
                            <a:srgbClr val="FFFFFF"/>
                          </a:solidFill>
                          <a:latin typeface="IBM Plex Sans"/>
                          <a:ea typeface="IBM Plex Sans"/>
                          <a:cs typeface="IBM Plex Sans"/>
                        </a:rPr>
                        <a:t>Input or event</a:t>
                      </a:r>
                    </a:p>
                  </a:txBody>
                  <a:tcPr marL="91440" marR="91440" marT="45720" marB="45720">
                    <a:solidFill>
                      <a:srgbClr val="16233E"/>
                    </a:solidFill>
                  </a:tcPr>
                </a:tc>
                <a:tc>
                  <a:txBody>
                    <a:bodyPr wrap="square">
                      <a:noAutofit/>
                    </a:bodyPr>
                    <a:lstStyle/>
                    <a:p>
                      <a:r>
                        <a:rPr sz="1950" b="1">
                          <a:solidFill>
                            <a:srgbClr val="FFFFFF"/>
                          </a:solidFill>
                          <a:latin typeface="IBM Plex Sans"/>
                          <a:ea typeface="IBM Plex Sans"/>
                          <a:cs typeface="IBM Plex Sans"/>
                        </a:rPr>
                        <a:t>Required observable behavior</a:t>
                      </a:r>
                    </a:p>
                  </a:txBody>
                  <a:tcPr marL="91440" marR="91440" marT="45720" marB="45720">
                    <a:solidFill>
                      <a:srgbClr val="16233E"/>
                    </a:solidFill>
                  </a:tcPr>
                </a:tc>
              </a:tr>
              <a:tr h="785813">
                <a:tc>
                  <a:txBody>
                    <a:bodyPr wrap="square">
                      <a:noAutofit/>
                    </a:bodyPr>
                    <a:lstStyle/>
                    <a:p>
                      <a:r>
                        <a:rPr sz="1950" b="0">
                          <a:solidFill>
                            <a:srgbClr val="16233E"/>
                          </a:solidFill>
                          <a:latin typeface="IBM Plex Sans"/>
                          <a:ea typeface="IBM Plex Sans"/>
                          <a:cs typeface="IBM Plex Sans"/>
                        </a:rPr>
                        <a:t>Malformed or incomplete answer</a:t>
                      </a:r>
                    </a:p>
                  </a:txBody>
                  <a:tcPr marL="91440" marR="91440" marT="45720" marB="45720">
                    <a:solidFill>
                      <a:srgbClr val="FFFFFF"/>
                    </a:solidFill>
                  </a:tcPr>
                </a:tc>
                <a:tc>
                  <a:txBody>
                    <a:bodyPr wrap="square">
                      <a:noAutofit/>
                    </a:bodyPr>
                    <a:lstStyle/>
                    <a:p>
                      <a:r>
                        <a:rPr sz="1950" b="0">
                          <a:solidFill>
                            <a:srgbClr val="16233E"/>
                          </a:solidFill>
                          <a:latin typeface="IBM Plex Sans"/>
                          <a:ea typeface="IBM Plex Sans"/>
                          <a:cs typeface="IBM Plex Sans"/>
                        </a:rPr>
                        <a:t>Explicit failure. No invented disposition.</a:t>
                      </a:r>
                    </a:p>
                  </a:txBody>
                  <a:tcPr marL="91440" marR="91440" marT="45720" marB="45720">
                    <a:solidFill>
                      <a:srgbClr val="FFFFFF"/>
                    </a:solidFill>
                  </a:tcPr>
                </a:tc>
              </a:tr>
              <a:tr h="785813">
                <a:tc>
                  <a:txBody>
                    <a:bodyPr wrap="square">
                      <a:noAutofit/>
                    </a:bodyPr>
                    <a:lstStyle/>
                    <a:p>
                      <a:r>
                        <a:rPr sz="1950" b="0">
                          <a:solidFill>
                            <a:srgbClr val="16233E"/>
                          </a:solidFill>
                          <a:latin typeface="IBM Plex Sans"/>
                          <a:ea typeface="IBM Plex Sans"/>
                          <a:cs typeface="IBM Plex Sans"/>
                        </a:rPr>
                        <a:t>Valid bucket and short rationale</a:t>
                      </a:r>
                    </a:p>
                  </a:txBody>
                  <a:tcPr marL="91440" marR="91440" marT="45720" marB="45720">
                    <a:solidFill>
                      <a:srgbClr val="F5F3ED"/>
                    </a:solidFill>
                  </a:tcPr>
                </a:tc>
                <a:tc>
                  <a:txBody>
                    <a:bodyPr wrap="square">
                      <a:noAutofit/>
                    </a:bodyPr>
                    <a:lstStyle/>
                    <a:p>
                      <a:r>
                        <a:rPr sz="1950" b="0">
                          <a:solidFill>
                            <a:srgbClr val="16233E"/>
                          </a:solidFill>
                          <a:latin typeface="IBM Plex Sans"/>
                          <a:ea typeface="IBM Plex Sans"/>
                          <a:cs typeface="IBM Plex Sans"/>
                        </a:rPr>
                        <a:t>Parse and display the result.</a:t>
                      </a:r>
                    </a:p>
                  </a:txBody>
                  <a:tcPr marL="91440" marR="91440" marT="45720" marB="45720">
                    <a:solidFill>
                      <a:srgbClr val="F5F3ED"/>
                    </a:solidFill>
                  </a:tcPr>
                </a:tc>
              </a:tr>
              <a:tr h="785813">
                <a:tc>
                  <a:txBody>
                    <a:bodyPr wrap="square">
                      <a:noAutofit/>
                    </a:bodyPr>
                    <a:lstStyle/>
                    <a:p>
                      <a:r>
                        <a:rPr sz="1950" b="0">
                          <a:solidFill>
                            <a:srgbClr val="16233E"/>
                          </a:solidFill>
                          <a:latin typeface="IBM Plex Sans"/>
                          <a:ea typeface="IBM Plex Sans"/>
                          <a:cs typeface="IBM Plex Sans"/>
                        </a:rPr>
                        <a:t>User edits the message</a:t>
                      </a:r>
                    </a:p>
                  </a:txBody>
                  <a:tcPr marL="91440" marR="91440" marT="45720" marB="45720">
                    <a:solidFill>
                      <a:srgbClr val="FFFFFF"/>
                    </a:solidFill>
                  </a:tcPr>
                </a:tc>
                <a:tc>
                  <a:txBody>
                    <a:bodyPr wrap="square">
                      <a:noAutofit/>
                    </a:bodyPr>
                    <a:lstStyle/>
                    <a:p>
                      <a:r>
                        <a:rPr sz="1950" b="0">
                          <a:solidFill>
                            <a:srgbClr val="16233E"/>
                          </a:solidFill>
                          <a:latin typeface="IBM Plex Sans"/>
                          <a:ea typeface="IBM Plex Sans"/>
                          <a:cs typeface="IBM Plex Sans"/>
                        </a:rPr>
                        <a:t>Clear the old result immediately.</a:t>
                      </a:r>
                    </a:p>
                  </a:txBody>
                  <a:tcPr marL="91440" marR="91440" marT="45720" marB="45720">
                    <a:solidFill>
                      <a:srgbClr val="FFFFFF"/>
                    </a:solidFill>
                  </a:tcPr>
                </a:tc>
              </a:tr>
            </a:tbl>
          </a:graphicData>
        </a:graphic>
      </p:graphicFrame>
      <p:sp>
        <p:nvSpPr>
          <p:cNvPr id="3" name="Fail closed: an invalid result cannot silently become a">
            <a:extLst xmlns:a="http://schemas.openxmlformats.org/drawingml/2006/main">
              <a:ext uri="{FF2B5EF4-FFF2-40B4-BE49-F238E27FC236}">
                <a16:creationId xmlns:a16="http://schemas.microsoft.com/office/drawing/2014/main" id="{AA40CAD4-3600-46E2-B2F0-2BA5454B69BF}"/>
              </a:ext>
            </a:extLst>
          </p:cNvPr>
          <p:cNvSpPr>
            <a:spLocks xmlns:a="http://schemas.openxmlformats.org/drawingml/2006/main" noGrp="1"/>
          </p:cNvSpPr>
          <p:nvPr/>
        </p:nvSpPr>
        <p:spPr>
          <a:xfrm xmlns:a="http://schemas.openxmlformats.org/drawingml/2006/main">
            <a:off x="762000" y="5286375"/>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1">
                <a:solidFill>
                  <a:srgbClr val="187D73"/>
                </a:solidFill>
                <a:latin typeface="IBM Plex Sans"/>
                <a:ea typeface="IBM Plex Sans"/>
                <a:cs typeface="IBM Plex Sans"/>
              </a:defRPr>
            </a:pPr>
            <a:r>
              <a:rPr sz="2325" b="1">
                <a:solidFill>
                  <a:srgbClr val="187D73"/>
                </a:solidFill>
                <a:latin typeface="IBM Plex Sans"/>
                <a:ea typeface="IBM Plex Sans"/>
                <a:cs typeface="IBM Plex Sans"/>
              </a:rPr>
              <a:t>Fail closed: an invalid result cannot silently become a successful decision.</a:t>
            </a:r>
          </a:p>
        </p:txBody>
      </p:sp>
      <p:sp>
        <p:nvSpPr>
          <p:cNvPr id="4" name="Brandon Dent, MD   /   BIOM 7109/8109">
            <a:extLst xmlns:a="http://schemas.openxmlformats.org/drawingml/2006/main">
              <a:ext uri="{FF2B5EF4-FFF2-40B4-BE49-F238E27FC236}">
                <a16:creationId xmlns:a16="http://schemas.microsoft.com/office/drawing/2014/main" id="{CC6184A8-52C6-4586-B357-9BD14B5EBB0F}"/>
              </a:ext>
            </a:extLst>
          </p:cNvPr>
          <p:cNvSpPr>
            <a:spLocks xmlns:a="http://schemas.openxmlformats.org/drawingml/2006/main" noGrp="1"/>
          </p:cNvSpPr>
          <p:nvPr/>
        </p:nvSpPr>
        <p:spPr>
          <a:xfrm xmlns:a="http://schemas.openxmlformats.org/drawingml/2006/main">
            <a:off x="762000" y="6334125"/>
            <a:ext cx="981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b="0">
                <a:solidFill>
                  <a:srgbClr val="596475"/>
                </a:solidFill>
                <a:latin typeface="IBM Plex Sans"/>
                <a:ea typeface="IBM Plex Sans"/>
                <a:cs typeface="IBM Plex Sans"/>
              </a:defRPr>
            </a:pPr>
            <a:r>
              <a:rPr sz="1275" b="0">
                <a:solidFill>
                  <a:srgbClr val="596475"/>
                </a:solidFill>
                <a:latin typeface="IBM Plex Sans"/>
                <a:ea typeface="IBM Plex Sans"/>
                <a:cs typeface="IBM Plex Sans"/>
              </a:rPr>
              <a:t>Brandon Dent, MD   /   BIOM 7109/8109</a:t>
            </a:r>
          </a:p>
        </p:txBody>
      </p:sp>
      <p:sp>
        <p:nvSpPr>
          <p:cNvPr id="5" name="12 / 16">
            <a:extLst xmlns:a="http://schemas.openxmlformats.org/drawingml/2006/main">
              <a:ext uri="{FF2B5EF4-FFF2-40B4-BE49-F238E27FC236}">
                <a16:creationId xmlns:a16="http://schemas.microsoft.com/office/drawing/2014/main" id="{C1EC9C89-106D-4E71-800B-4B5F86B620AD}"/>
              </a:ext>
            </a:extLst>
          </p:cNvPr>
          <p:cNvSpPr>
            <a:spLocks xmlns:a="http://schemas.openxmlformats.org/drawingml/2006/main" noGrp="1"/>
          </p:cNvSpPr>
          <p:nvPr/>
        </p:nvSpPr>
        <p:spPr>
          <a:xfrm xmlns:a="http://schemas.openxmlformats.org/drawingml/2006/main">
            <a:off x="10791825" y="6334125"/>
            <a:ext cx="762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b="0">
                <a:solidFill>
                  <a:srgbClr val="596475"/>
                </a:solidFill>
                <a:latin typeface="IBM Plex Sans"/>
                <a:ea typeface="IBM Plex Sans"/>
                <a:cs typeface="IBM Plex Sans"/>
              </a:defRPr>
            </a:pPr>
            <a:r>
              <a:rPr sz="1275" b="0">
                <a:solidFill>
                  <a:srgbClr val="596475"/>
                </a:solidFill>
                <a:latin typeface="IBM Plex Sans"/>
                <a:ea typeface="IBM Plex Sans"/>
                <a:cs typeface="IBM Plex Sans"/>
              </a:rPr>
              <a:t>12 / 16</a:t>
            </a:r>
          </a:p>
        </p:txBody>
      </p:sp>
    </p:spTree>
    <p:extLst>
      <p:ext uri="{BB962C8B-B14F-4D97-AF65-F5344CB8AC3E}">
        <p14:creationId xmlns:p14="http://schemas.microsoft.com/office/powerpoint/2010/main" val="543144461"/>
      </p:ext>
    </p:extLst>
  </p:cSld>
</p:sld>
</file>

<file path=ppt/slides/slide13.xml><?xml version="1.0" encoding="utf-8"?>
<p:sld xmlns:p="http://schemas.openxmlformats.org/presentationml/2006/main">
  <p:cSld>
    <p:bg>
      <p:bgPr>
        <a:solidFill xmlns:a="http://schemas.openxmlformats.org/drawingml/2006/main">
          <a:srgbClr val="F5F3ED"/>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AD346C50-B97A-44E5-A428-593E208EC890}"/>
              </a:ext>
            </a:extLst>
          </p:cNvPr>
          <p:cNvSpPr>
            <a:spLocks xmlns:a="http://schemas.openxmlformats.org/drawingml/2006/main" noGrp="1"/>
          </p:cNvSpPr>
          <p:nvPr/>
        </p:nvSpPr>
        <p:spPr>
          <a:xfrm xmlns:a="http://schemas.openxmlformats.org/drawingml/2006/main">
            <a:off x="762000" y="609600"/>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450" b="1">
                <a:solidFill>
                  <a:srgbClr val="16233E"/>
                </a:solidFill>
                <a:latin typeface="IBM Plex Sans"/>
                <a:ea typeface="IBM Plex Sans"/>
                <a:cs typeface="IBM Plex Sans"/>
              </a:defRPr>
            </a:pPr>
            <a:r>
              <a:rPr sz="3450" b="1">
                <a:solidFill>
                  <a:srgbClr val="16233E"/>
                </a:solidFill>
                <a:latin typeface="IBM Plex Sans"/>
                <a:ea typeface="IBM Plex Sans"/>
                <a:cs typeface="IBM Plex Sans"/>
              </a:rPr>
              <a:t>Systems work makes responsibility explicit</a:t>
            </a:r>
          </a:p>
        </p:txBody>
      </p:sp>
      <p:sp>
        <p:nvSpPr>
          <p:cNvPr id="2" name="Illustrative exercise: an assistant for approved traini">
            <a:extLst xmlns:a="http://schemas.openxmlformats.org/drawingml/2006/main">
              <a:ext uri="{FF2B5EF4-FFF2-40B4-BE49-F238E27FC236}">
                <a16:creationId xmlns:a16="http://schemas.microsoft.com/office/drawing/2014/main" id="{D537CD7D-8E1B-4DD0-B7B2-5D55CBF19F3A}"/>
              </a:ext>
            </a:extLst>
          </p:cNvPr>
          <p:cNvSpPr>
            <a:spLocks xmlns:a="http://schemas.openxmlformats.org/drawingml/2006/main" noGrp="1"/>
          </p:cNvSpPr>
          <p:nvPr/>
        </p:nvSpPr>
        <p:spPr>
          <a:xfrm xmlns:a="http://schemas.openxmlformats.org/drawingml/2006/main">
            <a:off x="762000" y="1685925"/>
            <a:ext cx="105727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1">
                <a:solidFill>
                  <a:srgbClr val="16233E"/>
                </a:solidFill>
                <a:latin typeface="IBM Plex Sans"/>
                <a:ea typeface="IBM Plex Sans"/>
                <a:cs typeface="IBM Plex Sans"/>
              </a:defRPr>
            </a:pPr>
            <a:r>
              <a:rPr sz="2550" b="1">
                <a:solidFill>
                  <a:srgbClr val="16233E"/>
                </a:solidFill>
                <a:latin typeface="IBM Plex Sans"/>
                <a:ea typeface="IBM Plex Sans"/>
                <a:cs typeface="IBM Plex Sans"/>
              </a:rPr>
              <a:t>Illustrative exercise: an assistant for approved training information</a:t>
            </a:r>
          </a:p>
        </p:txBody>
      </p:sp>
      <p:sp>
        <p:nvSpPr>
          <p:cNvPr id="3" name="WHO OWNS THE ANSWER?">
            <a:extLst xmlns:a="http://schemas.openxmlformats.org/drawingml/2006/main">
              <a:ext uri="{FF2B5EF4-FFF2-40B4-BE49-F238E27FC236}">
                <a16:creationId xmlns:a16="http://schemas.microsoft.com/office/drawing/2014/main" id="{1BDB2335-0CB6-4901-BFA9-17CE0EEA6638}"/>
              </a:ext>
            </a:extLst>
          </p:cNvPr>
          <p:cNvSpPr>
            <a:spLocks xmlns:a="http://schemas.openxmlformats.org/drawingml/2006/main" noGrp="1"/>
          </p:cNvSpPr>
          <p:nvPr/>
        </p:nvSpPr>
        <p:spPr>
          <a:xfrm xmlns:a="http://schemas.openxmlformats.org/drawingml/2006/main">
            <a:off x="762000" y="2952750"/>
            <a:ext cx="1028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87D73"/>
                </a:solidFill>
                <a:latin typeface="IBM Plex Sans"/>
                <a:ea typeface="IBM Plex Sans"/>
                <a:cs typeface="IBM Plex Sans"/>
              </a:defRPr>
            </a:pPr>
            <a:r>
              <a:rPr sz="2175" b="1">
                <a:solidFill>
                  <a:srgbClr val="187D73"/>
                </a:solidFill>
                <a:latin typeface="IBM Plex Sans"/>
                <a:ea typeface="IBM Plex Sans"/>
                <a:cs typeface="IBM Plex Sans"/>
              </a:rPr>
              <a:t>WHO OWNS THE ANSWER?</a:t>
            </a:r>
          </a:p>
        </p:txBody>
      </p:sp>
      <p:sp>
        <p:nvSpPr>
          <p:cNvPr id="4" name="Define the user, approved source and person who handles">
            <a:extLst xmlns:a="http://schemas.openxmlformats.org/drawingml/2006/main">
              <a:ext uri="{FF2B5EF4-FFF2-40B4-BE49-F238E27FC236}">
                <a16:creationId xmlns:a16="http://schemas.microsoft.com/office/drawing/2014/main" id="{DF2D941B-BDF8-44B6-8BDA-F6812E325860}"/>
              </a:ext>
            </a:extLst>
          </p:cNvPr>
          <p:cNvSpPr>
            <a:spLocks xmlns:a="http://schemas.openxmlformats.org/drawingml/2006/main" noGrp="1"/>
          </p:cNvSpPr>
          <p:nvPr/>
        </p:nvSpPr>
        <p:spPr>
          <a:xfrm xmlns:a="http://schemas.openxmlformats.org/drawingml/2006/main">
            <a:off x="762000" y="3409950"/>
            <a:ext cx="102870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6233E"/>
                </a:solidFill>
                <a:latin typeface="IBM Plex Sans"/>
                <a:ea typeface="IBM Plex Sans"/>
                <a:cs typeface="IBM Plex Sans"/>
              </a:defRPr>
            </a:pPr>
            <a:r>
              <a:rPr sz="2250" b="0">
                <a:solidFill>
                  <a:srgbClr val="16233E"/>
                </a:solidFill>
                <a:latin typeface="IBM Plex Sans"/>
                <a:ea typeface="IBM Plex Sans"/>
                <a:cs typeface="IBM Plex Sans"/>
              </a:rPr>
              <a:t>Define the user, approved source and person who handles uncertainty.</a:t>
            </a:r>
          </a:p>
        </p:txBody>
      </p:sp>
      <p:sp>
        <p:nvSpPr>
          <p:cNvPr id="5" name="WHAT PROVES IT WORKS?">
            <a:extLst xmlns:a="http://schemas.openxmlformats.org/drawingml/2006/main">
              <a:ext uri="{FF2B5EF4-FFF2-40B4-BE49-F238E27FC236}">
                <a16:creationId xmlns:a16="http://schemas.microsoft.com/office/drawing/2014/main" id="{2A80BB19-3516-4482-AE81-0277D10824BF}"/>
              </a:ext>
            </a:extLst>
          </p:cNvPr>
          <p:cNvSpPr>
            <a:spLocks xmlns:a="http://schemas.openxmlformats.org/drawingml/2006/main" noGrp="1"/>
          </p:cNvSpPr>
          <p:nvPr/>
        </p:nvSpPr>
        <p:spPr>
          <a:xfrm xmlns:a="http://schemas.openxmlformats.org/drawingml/2006/main">
            <a:off x="762000" y="4552950"/>
            <a:ext cx="1028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87D73"/>
                </a:solidFill>
                <a:latin typeface="IBM Plex Sans"/>
                <a:ea typeface="IBM Plex Sans"/>
                <a:cs typeface="IBM Plex Sans"/>
              </a:defRPr>
            </a:pPr>
            <a:r>
              <a:rPr sz="2175" b="1">
                <a:solidFill>
                  <a:srgbClr val="187D73"/>
                </a:solidFill>
                <a:latin typeface="IBM Plex Sans"/>
                <a:ea typeface="IBM Plex Sans"/>
                <a:cs typeface="IBM Plex Sans"/>
              </a:rPr>
              <a:t>WHAT PROVES IT WORKS?</a:t>
            </a:r>
          </a:p>
        </p:txBody>
      </p:sp>
      <p:sp>
        <p:nvSpPr>
          <p:cNvPr id="6" name="Specify access rules, source-linked answers and tests f">
            <a:extLst xmlns:a="http://schemas.openxmlformats.org/drawingml/2006/main">
              <a:ext uri="{FF2B5EF4-FFF2-40B4-BE49-F238E27FC236}">
                <a16:creationId xmlns:a16="http://schemas.microsoft.com/office/drawing/2014/main" id="{21557ABB-7320-444B-9DFB-86D9E702296E}"/>
              </a:ext>
            </a:extLst>
          </p:cNvPr>
          <p:cNvSpPr>
            <a:spLocks xmlns:a="http://schemas.openxmlformats.org/drawingml/2006/main" noGrp="1"/>
          </p:cNvSpPr>
          <p:nvPr/>
        </p:nvSpPr>
        <p:spPr>
          <a:xfrm xmlns:a="http://schemas.openxmlformats.org/drawingml/2006/main">
            <a:off x="762000" y="5010150"/>
            <a:ext cx="102870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6233E"/>
                </a:solidFill>
                <a:latin typeface="IBM Plex Sans"/>
                <a:ea typeface="IBM Plex Sans"/>
                <a:cs typeface="IBM Plex Sans"/>
              </a:defRPr>
            </a:pPr>
            <a:r>
              <a:rPr sz="2250" b="0">
                <a:solidFill>
                  <a:srgbClr val="16233E"/>
                </a:solidFill>
                <a:latin typeface="IBM Plex Sans"/>
                <a:ea typeface="IBM Plex Sans"/>
                <a:cs typeface="IBM Plex Sans"/>
              </a:rPr>
              <a:t>Specify access rules, source-linked answers and tests for changes.</a:t>
            </a:r>
          </a:p>
        </p:txBody>
      </p:sp>
      <p:sp>
        <p:nvSpPr>
          <p:cNvPr id="7" name="Brandon Dent, MD   /   BIOM 7109/8109">
            <a:extLst xmlns:a="http://schemas.openxmlformats.org/drawingml/2006/main">
              <a:ext uri="{FF2B5EF4-FFF2-40B4-BE49-F238E27FC236}">
                <a16:creationId xmlns:a16="http://schemas.microsoft.com/office/drawing/2014/main" id="{0BD9710F-0D49-4A45-8207-317A7B421BF2}"/>
              </a:ext>
            </a:extLst>
          </p:cNvPr>
          <p:cNvSpPr>
            <a:spLocks xmlns:a="http://schemas.openxmlformats.org/drawingml/2006/main" noGrp="1"/>
          </p:cNvSpPr>
          <p:nvPr/>
        </p:nvSpPr>
        <p:spPr>
          <a:xfrm xmlns:a="http://schemas.openxmlformats.org/drawingml/2006/main">
            <a:off x="762000" y="6334125"/>
            <a:ext cx="981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b="0">
                <a:solidFill>
                  <a:srgbClr val="596475"/>
                </a:solidFill>
                <a:latin typeface="IBM Plex Sans"/>
                <a:ea typeface="IBM Plex Sans"/>
                <a:cs typeface="IBM Plex Sans"/>
              </a:defRPr>
            </a:pPr>
            <a:r>
              <a:rPr sz="1275" b="0">
                <a:solidFill>
                  <a:srgbClr val="596475"/>
                </a:solidFill>
                <a:latin typeface="IBM Plex Sans"/>
                <a:ea typeface="IBM Plex Sans"/>
                <a:cs typeface="IBM Plex Sans"/>
              </a:rPr>
              <a:t>Brandon Dent, MD   /   BIOM 7109/8109</a:t>
            </a:r>
          </a:p>
        </p:txBody>
      </p:sp>
      <p:sp>
        <p:nvSpPr>
          <p:cNvPr id="8" name="13 / 16">
            <a:extLst xmlns:a="http://schemas.openxmlformats.org/drawingml/2006/main">
              <a:ext uri="{FF2B5EF4-FFF2-40B4-BE49-F238E27FC236}">
                <a16:creationId xmlns:a16="http://schemas.microsoft.com/office/drawing/2014/main" id="{F942FD4E-A7E1-4A96-810C-7014122321DF}"/>
              </a:ext>
            </a:extLst>
          </p:cNvPr>
          <p:cNvSpPr>
            <a:spLocks xmlns:a="http://schemas.openxmlformats.org/drawingml/2006/main" noGrp="1"/>
          </p:cNvSpPr>
          <p:nvPr/>
        </p:nvSpPr>
        <p:spPr>
          <a:xfrm xmlns:a="http://schemas.openxmlformats.org/drawingml/2006/main">
            <a:off x="10791825" y="6334125"/>
            <a:ext cx="762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b="0">
                <a:solidFill>
                  <a:srgbClr val="596475"/>
                </a:solidFill>
                <a:latin typeface="IBM Plex Sans"/>
                <a:ea typeface="IBM Plex Sans"/>
                <a:cs typeface="IBM Plex Sans"/>
              </a:defRPr>
            </a:pPr>
            <a:r>
              <a:rPr sz="1275" b="0">
                <a:solidFill>
                  <a:srgbClr val="596475"/>
                </a:solidFill>
                <a:latin typeface="IBM Plex Sans"/>
                <a:ea typeface="IBM Plex Sans"/>
                <a:cs typeface="IBM Plex Sans"/>
              </a:rPr>
              <a:t>13 / 16</a:t>
            </a:r>
          </a:p>
        </p:txBody>
      </p:sp>
    </p:spTree>
    <p:extLst>
      <p:ext uri="{BB962C8B-B14F-4D97-AF65-F5344CB8AC3E}">
        <p14:creationId xmlns:p14="http://schemas.microsoft.com/office/powerpoint/2010/main" val="912608299"/>
      </p:ext>
    </p:extLst>
  </p:cSld>
</p:sld>
</file>

<file path=ppt/slides/slide14.xml><?xml version="1.0" encoding="utf-8"?>
<p:sld xmlns:p="http://schemas.openxmlformats.org/presentationml/2006/main">
  <p:cSld>
    <p:bg>
      <p:bgPr>
        <a:solidFill xmlns:a="http://schemas.openxmlformats.org/drawingml/2006/main">
          <a:srgbClr val="F5F3ED"/>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636AAEAF-1B2C-4D64-B08E-A44A6F8AA715}"/>
              </a:ext>
            </a:extLst>
          </p:cNvPr>
          <p:cNvSpPr>
            <a:spLocks xmlns:a="http://schemas.openxmlformats.org/drawingml/2006/main" noGrp="1"/>
          </p:cNvSpPr>
          <p:nvPr/>
        </p:nvSpPr>
        <p:spPr>
          <a:xfrm xmlns:a="http://schemas.openxmlformats.org/drawingml/2006/main">
            <a:off x="762000" y="609600"/>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450" b="1">
                <a:solidFill>
                  <a:srgbClr val="16233E"/>
                </a:solidFill>
                <a:latin typeface="IBM Plex Sans"/>
                <a:ea typeface="IBM Plex Sans"/>
                <a:cs typeface="IBM Plex Sans"/>
              </a:defRPr>
            </a:pPr>
            <a:r>
              <a:rPr sz="3450" b="1">
                <a:solidFill>
                  <a:srgbClr val="16233E"/>
                </a:solidFill>
                <a:latin typeface="IBM Plex Sans"/>
                <a:ea typeface="IBM Plex Sans"/>
                <a:cs typeface="IBM Plex Sans"/>
              </a:rPr>
              <a:t>A small contribution can show how you think</a:t>
            </a:r>
          </a:p>
        </p:txBody>
      </p:sp>
      <p:sp>
        <p:nvSpPr>
          <p:cNvPr id="2" name="A result another person can inspect">
            <a:extLst xmlns:a="http://schemas.openxmlformats.org/drawingml/2006/main">
              <a:ext uri="{FF2B5EF4-FFF2-40B4-BE49-F238E27FC236}">
                <a16:creationId xmlns:a16="http://schemas.microsoft.com/office/drawing/2014/main" id="{2C945B11-4BC3-4AA8-9E5D-18EFCE70060E}"/>
              </a:ext>
            </a:extLst>
          </p:cNvPr>
          <p:cNvSpPr>
            <a:spLocks xmlns:a="http://schemas.openxmlformats.org/drawingml/2006/main" noGrp="1"/>
          </p:cNvSpPr>
          <p:nvPr/>
        </p:nvSpPr>
        <p:spPr>
          <a:xfrm xmlns:a="http://schemas.openxmlformats.org/drawingml/2006/main">
            <a:off x="762000" y="1781175"/>
            <a:ext cx="1028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925" b="1">
                <a:solidFill>
                  <a:srgbClr val="187D73"/>
                </a:solidFill>
                <a:latin typeface="IBM Plex Sans"/>
                <a:ea typeface="IBM Plex Sans"/>
                <a:cs typeface="IBM Plex Sans"/>
              </a:defRPr>
            </a:pPr>
            <a:r>
              <a:rPr sz="2925" b="1">
                <a:solidFill>
                  <a:srgbClr val="187D73"/>
                </a:solidFill>
                <a:latin typeface="IBM Plex Sans"/>
                <a:ea typeface="IBM Plex Sans"/>
                <a:cs typeface="IBM Plex Sans"/>
              </a:rPr>
              <a:t>A result another person can inspect</a:t>
            </a:r>
          </a:p>
        </p:txBody>
      </p:sp>
      <p:sp>
        <p:nvSpPr>
          <p:cNvPr id="3" name="One case. One explicit requirement. One reproducible te">
            <a:extLst xmlns:a="http://schemas.openxmlformats.org/drawingml/2006/main">
              <a:ext uri="{FF2B5EF4-FFF2-40B4-BE49-F238E27FC236}">
                <a16:creationId xmlns:a16="http://schemas.microsoft.com/office/drawing/2014/main" id="{8770D1BB-AE57-48BD-B2E4-8D3427B3A6FE}"/>
              </a:ext>
            </a:extLst>
          </p:cNvPr>
          <p:cNvSpPr>
            <a:spLocks xmlns:a="http://schemas.openxmlformats.org/drawingml/2006/main" noGrp="1"/>
          </p:cNvSpPr>
          <p:nvPr/>
        </p:nvSpPr>
        <p:spPr>
          <a:xfrm xmlns:a="http://schemas.openxmlformats.org/drawingml/2006/main">
            <a:off x="762000" y="2686050"/>
            <a:ext cx="10572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6233E"/>
                </a:solidFill>
                <a:latin typeface="IBM Plex Sans"/>
                <a:ea typeface="IBM Plex Sans"/>
                <a:cs typeface="IBM Plex Sans"/>
              </a:defRPr>
            </a:pPr>
            <a:r>
              <a:rPr sz="2700" b="0">
                <a:solidFill>
                  <a:srgbClr val="16233E"/>
                </a:solidFill>
                <a:latin typeface="IBM Plex Sans"/>
                <a:ea typeface="IBM Plex Sans"/>
                <a:cs typeface="IBM Plex Sans"/>
              </a:rPr>
              <a:t>One case. One explicit requirement. One reproducible test.</a:t>
            </a:r>
          </a:p>
        </p:txBody>
      </p:sp>
      <p:sp>
        <p:nvSpPr>
          <p:cNvPr id="4" name="Show what failed, what changed and what remains unknown">
            <a:extLst xmlns:a="http://schemas.openxmlformats.org/drawingml/2006/main">
              <a:ext uri="{FF2B5EF4-FFF2-40B4-BE49-F238E27FC236}">
                <a16:creationId xmlns:a16="http://schemas.microsoft.com/office/drawing/2014/main" id="{C6825BCE-C046-4E0A-979B-2B7BEED680F9}"/>
              </a:ext>
            </a:extLst>
          </p:cNvPr>
          <p:cNvSpPr>
            <a:spLocks xmlns:a="http://schemas.openxmlformats.org/drawingml/2006/main" noGrp="1"/>
          </p:cNvSpPr>
          <p:nvPr/>
        </p:nvSpPr>
        <p:spPr>
          <a:xfrm xmlns:a="http://schemas.openxmlformats.org/drawingml/2006/main">
            <a:off x="762000" y="3981450"/>
            <a:ext cx="10572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6233E"/>
                </a:solidFill>
                <a:latin typeface="IBM Plex Sans"/>
                <a:ea typeface="IBM Plex Sans"/>
                <a:cs typeface="IBM Plex Sans"/>
              </a:defRPr>
            </a:pPr>
            <a:r>
              <a:rPr sz="2700" b="0">
                <a:solidFill>
                  <a:srgbClr val="16233E"/>
                </a:solidFill>
                <a:latin typeface="IBM Plex Sans"/>
                <a:ea typeface="IBM Plex Sans"/>
                <a:cs typeface="IBM Plex Sans"/>
              </a:rPr>
              <a:t>Show what failed, what changed and what remains unknown.</a:t>
            </a:r>
          </a:p>
        </p:txBody>
      </p:sp>
      <p:sp>
        <p:nvSpPr>
          <p:cNvPr id="5" name="An interview artifact can be a clear test or analysis, ">
            <a:extLst xmlns:a="http://schemas.openxmlformats.org/drawingml/2006/main">
              <a:ext uri="{FF2B5EF4-FFF2-40B4-BE49-F238E27FC236}">
                <a16:creationId xmlns:a16="http://schemas.microsoft.com/office/drawing/2014/main" id="{D7D2F3FB-B73A-4AD1-B78D-C35E201B8507}"/>
              </a:ext>
            </a:extLst>
          </p:cNvPr>
          <p:cNvSpPr>
            <a:spLocks xmlns:a="http://schemas.openxmlformats.org/drawingml/2006/main" noGrp="1"/>
          </p:cNvSpPr>
          <p:nvPr/>
        </p:nvSpPr>
        <p:spPr>
          <a:xfrm xmlns:a="http://schemas.openxmlformats.org/drawingml/2006/main">
            <a:off x="762000" y="5286375"/>
            <a:ext cx="10572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596475"/>
                </a:solidFill>
                <a:latin typeface="IBM Plex Sans"/>
                <a:ea typeface="IBM Plex Sans"/>
                <a:cs typeface="IBM Plex Sans"/>
              </a:defRPr>
            </a:pPr>
            <a:r>
              <a:rPr sz="2175" b="0">
                <a:solidFill>
                  <a:srgbClr val="596475"/>
                </a:solidFill>
                <a:latin typeface="IBM Plex Sans"/>
                <a:ea typeface="IBM Plex Sans"/>
                <a:cs typeface="IBM Plex Sans"/>
              </a:rPr>
              <a:t>An interview artifact can be a clear test or analysis, not a large application.</a:t>
            </a:r>
          </a:p>
        </p:txBody>
      </p:sp>
      <p:sp>
        <p:nvSpPr>
          <p:cNvPr id="6" name="Brandon Dent, MD   /   BIOM 7109/8109">
            <a:extLst xmlns:a="http://schemas.openxmlformats.org/drawingml/2006/main">
              <a:ext uri="{FF2B5EF4-FFF2-40B4-BE49-F238E27FC236}">
                <a16:creationId xmlns:a16="http://schemas.microsoft.com/office/drawing/2014/main" id="{C67CE3AB-1BA9-4870-A67C-DFFF1B4CD35A}"/>
              </a:ext>
            </a:extLst>
          </p:cNvPr>
          <p:cNvSpPr>
            <a:spLocks xmlns:a="http://schemas.openxmlformats.org/drawingml/2006/main" noGrp="1"/>
          </p:cNvSpPr>
          <p:nvPr/>
        </p:nvSpPr>
        <p:spPr>
          <a:xfrm xmlns:a="http://schemas.openxmlformats.org/drawingml/2006/main">
            <a:off x="762000" y="6334125"/>
            <a:ext cx="981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b="0">
                <a:solidFill>
                  <a:srgbClr val="596475"/>
                </a:solidFill>
                <a:latin typeface="IBM Plex Sans"/>
                <a:ea typeface="IBM Plex Sans"/>
                <a:cs typeface="IBM Plex Sans"/>
              </a:defRPr>
            </a:pPr>
            <a:r>
              <a:rPr sz="1275" b="0">
                <a:solidFill>
                  <a:srgbClr val="596475"/>
                </a:solidFill>
                <a:latin typeface="IBM Plex Sans"/>
                <a:ea typeface="IBM Plex Sans"/>
                <a:cs typeface="IBM Plex Sans"/>
              </a:rPr>
              <a:t>Brandon Dent, MD   /   BIOM 7109/8109</a:t>
            </a:r>
          </a:p>
        </p:txBody>
      </p:sp>
      <p:sp>
        <p:nvSpPr>
          <p:cNvPr id="7" name="14 / 16">
            <a:extLst xmlns:a="http://schemas.openxmlformats.org/drawingml/2006/main">
              <a:ext uri="{FF2B5EF4-FFF2-40B4-BE49-F238E27FC236}">
                <a16:creationId xmlns:a16="http://schemas.microsoft.com/office/drawing/2014/main" id="{E36A469F-ABF2-4E53-92A0-A3517C4E5B7B}"/>
              </a:ext>
            </a:extLst>
          </p:cNvPr>
          <p:cNvSpPr>
            <a:spLocks xmlns:a="http://schemas.openxmlformats.org/drawingml/2006/main" noGrp="1"/>
          </p:cNvSpPr>
          <p:nvPr/>
        </p:nvSpPr>
        <p:spPr>
          <a:xfrm xmlns:a="http://schemas.openxmlformats.org/drawingml/2006/main">
            <a:off x="10791825" y="6334125"/>
            <a:ext cx="762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b="0">
                <a:solidFill>
                  <a:srgbClr val="596475"/>
                </a:solidFill>
                <a:latin typeface="IBM Plex Sans"/>
                <a:ea typeface="IBM Plex Sans"/>
                <a:cs typeface="IBM Plex Sans"/>
              </a:defRPr>
            </a:pPr>
            <a:r>
              <a:rPr sz="1275" b="0">
                <a:solidFill>
                  <a:srgbClr val="596475"/>
                </a:solidFill>
                <a:latin typeface="IBM Plex Sans"/>
                <a:ea typeface="IBM Plex Sans"/>
                <a:cs typeface="IBM Plex Sans"/>
              </a:rPr>
              <a:t>14 / 16</a:t>
            </a:r>
          </a:p>
        </p:txBody>
      </p:sp>
    </p:spTree>
    <p:extLst>
      <p:ext uri="{BB962C8B-B14F-4D97-AF65-F5344CB8AC3E}">
        <p14:creationId xmlns:p14="http://schemas.microsoft.com/office/powerpoint/2010/main" val="457309466"/>
      </p:ext>
    </p:extLst>
  </p:cSld>
</p:sld>
</file>

<file path=ppt/slides/slide15.xml><?xml version="1.0" encoding="utf-8"?>
<p:sld xmlns:p="http://schemas.openxmlformats.org/presentationml/2006/main">
  <p:cSld>
    <p:bg>
      <p:bgPr>
        <a:solidFill xmlns:a="http://schemas.openxmlformats.org/drawingml/2006/main">
          <a:srgbClr val="16233E"/>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3E7A7EA1-BCB5-410D-83C6-5C1D24E88041}"/>
              </a:ext>
            </a:extLst>
          </p:cNvPr>
          <p:cNvSpPr>
            <a:spLocks xmlns:a="http://schemas.openxmlformats.org/drawingml/2006/main" noGrp="1"/>
          </p:cNvSpPr>
          <p:nvPr/>
        </p:nvSpPr>
        <p:spPr>
          <a:xfrm xmlns:a="http://schemas.openxmlformats.org/drawingml/2006/main">
            <a:off x="762000" y="609600"/>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450" b="1">
                <a:solidFill>
                  <a:srgbClr val="FFFFFF"/>
                </a:solidFill>
                <a:latin typeface="IBM Plex Sans"/>
                <a:ea typeface="IBM Plex Sans"/>
                <a:cs typeface="IBM Plex Sans"/>
              </a:defRPr>
            </a:pPr>
            <a:r>
              <a:rPr sz="3450" b="1">
                <a:solidFill>
                  <a:srgbClr val="FFFFFF"/>
                </a:solidFill>
                <a:latin typeface="IBM Plex Sans"/>
                <a:ea typeface="IBM Plex Sans"/>
                <a:cs typeface="IBM Plex Sans"/>
              </a:rPr>
              <a:t>Volume negates luck</a:t>
            </a:r>
          </a:p>
        </p:txBody>
      </p:sp>
      <p:sp>
        <p:nvSpPr>
          <p:cNvPr id="2" name="I have advised capable people whose outcomes did not ma">
            <a:extLst xmlns:a="http://schemas.openxmlformats.org/drawingml/2006/main">
              <a:ext uri="{FF2B5EF4-FFF2-40B4-BE49-F238E27FC236}">
                <a16:creationId xmlns:a16="http://schemas.microsoft.com/office/drawing/2014/main" id="{D6E0A1CD-BE7A-4272-A36A-A0B2CC359DD1}"/>
              </a:ext>
            </a:extLst>
          </p:cNvPr>
          <p:cNvSpPr>
            <a:spLocks xmlns:a="http://schemas.openxmlformats.org/drawingml/2006/main" noGrp="1"/>
          </p:cNvSpPr>
          <p:nvPr/>
        </p:nvSpPr>
        <p:spPr>
          <a:xfrm xmlns:a="http://schemas.openxmlformats.org/drawingml/2006/main">
            <a:off x="762000" y="1781175"/>
            <a:ext cx="1047750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0">
                <a:solidFill>
                  <a:srgbClr val="FFFFFF"/>
                </a:solidFill>
                <a:latin typeface="IBM Plex Sans"/>
                <a:ea typeface="IBM Plex Sans"/>
                <a:cs typeface="IBM Plex Sans"/>
              </a:defRPr>
            </a:pPr>
            <a:r>
              <a:rPr sz="3000" b="0">
                <a:solidFill>
                  <a:srgbClr val="FFFFFF"/>
                </a:solidFill>
                <a:latin typeface="IBM Plex Sans"/>
                <a:ea typeface="IBM Plex Sans"/>
                <a:cs typeface="IBM Plex Sans"/>
              </a:rPr>
              <a:t>I have advised capable people whose outcomes did not match their preparation.</a:t>
            </a:r>
          </a:p>
        </p:txBody>
      </p:sp>
      <p:sp>
        <p:nvSpPr>
          <p:cNvPr id="3" name="A rejection is information, not a verdict on your worth">
            <a:extLst xmlns:a="http://schemas.openxmlformats.org/drawingml/2006/main">
              <a:ext uri="{FF2B5EF4-FFF2-40B4-BE49-F238E27FC236}">
                <a16:creationId xmlns:a16="http://schemas.microsoft.com/office/drawing/2014/main" id="{C4BE6DA2-B5D8-4674-90C5-3D8E80E1BD91}"/>
              </a:ext>
            </a:extLst>
          </p:cNvPr>
          <p:cNvSpPr>
            <a:spLocks xmlns:a="http://schemas.openxmlformats.org/drawingml/2006/main" noGrp="1"/>
          </p:cNvSpPr>
          <p:nvPr/>
        </p:nvSpPr>
        <p:spPr>
          <a:xfrm xmlns:a="http://schemas.openxmlformats.org/drawingml/2006/main">
            <a:off x="762000" y="3257550"/>
            <a:ext cx="10477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850" b="1">
                <a:solidFill>
                  <a:srgbClr val="B4C3D7"/>
                </a:solidFill>
                <a:latin typeface="IBM Plex Sans"/>
                <a:ea typeface="IBM Plex Sans"/>
                <a:cs typeface="IBM Plex Sans"/>
              </a:defRPr>
            </a:pPr>
            <a:r>
              <a:rPr sz="2850" b="1">
                <a:solidFill>
                  <a:srgbClr val="B4C3D7"/>
                </a:solidFill>
                <a:latin typeface="IBM Plex Sans"/>
                <a:ea typeface="IBM Plex Sans"/>
                <a:cs typeface="IBM Plex Sans"/>
              </a:rPr>
              <a:t>A rejection is information, not a verdict on your worth.</a:t>
            </a:r>
          </a:p>
        </p:txBody>
      </p:sp>
      <p:sp>
        <p:nvSpPr>
          <p:cNvPr id="4" name="“Be so good you can’t be ignored.”">
            <a:extLst xmlns:a="http://schemas.openxmlformats.org/drawingml/2006/main">
              <a:ext uri="{FF2B5EF4-FFF2-40B4-BE49-F238E27FC236}">
                <a16:creationId xmlns:a16="http://schemas.microsoft.com/office/drawing/2014/main" id="{CD869997-2E90-4661-9D4D-6A14F36E3EA5}"/>
              </a:ext>
            </a:extLst>
          </p:cNvPr>
          <p:cNvSpPr>
            <a:spLocks xmlns:a="http://schemas.openxmlformats.org/drawingml/2006/main" noGrp="1"/>
          </p:cNvSpPr>
          <p:nvPr/>
        </p:nvSpPr>
        <p:spPr>
          <a:xfrm xmlns:a="http://schemas.openxmlformats.org/drawingml/2006/main">
            <a:off x="762000" y="4676775"/>
            <a:ext cx="104775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FF249C"/>
                </a:solidFill>
                <a:latin typeface="IBM Plex Sans"/>
                <a:ea typeface="IBM Plex Sans"/>
                <a:cs typeface="IBM Plex Sans"/>
              </a:defRPr>
            </a:pPr>
            <a:r>
              <a:rPr sz="3225" b="1">
                <a:solidFill>
                  <a:srgbClr val="FF249C"/>
                </a:solidFill>
                <a:latin typeface="IBM Plex Sans"/>
                <a:ea typeface="IBM Plex Sans"/>
                <a:cs typeface="IBM Plex Sans"/>
              </a:rPr>
              <a:t>“Be so good you can’t be ignored.”</a:t>
            </a:r>
          </a:p>
        </p:txBody>
      </p:sp>
      <p:sp>
        <p:nvSpPr>
          <p:cNvPr id="5" name="An aspiration to produce visible evidence, not a promis">
            <a:extLst xmlns:a="http://schemas.openxmlformats.org/drawingml/2006/main">
              <a:ext uri="{FF2B5EF4-FFF2-40B4-BE49-F238E27FC236}">
                <a16:creationId xmlns:a16="http://schemas.microsoft.com/office/drawing/2014/main" id="{3B522B90-02D3-4BEC-972B-74916DE40C0F}"/>
              </a:ext>
            </a:extLst>
          </p:cNvPr>
          <p:cNvSpPr>
            <a:spLocks xmlns:a="http://schemas.openxmlformats.org/drawingml/2006/main" noGrp="1"/>
          </p:cNvSpPr>
          <p:nvPr/>
        </p:nvSpPr>
        <p:spPr>
          <a:xfrm xmlns:a="http://schemas.openxmlformats.org/drawingml/2006/main">
            <a:off x="762000" y="5600700"/>
            <a:ext cx="10477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B4C3D7"/>
                </a:solidFill>
                <a:latin typeface="IBM Plex Sans"/>
                <a:ea typeface="IBM Plex Sans"/>
                <a:cs typeface="IBM Plex Sans"/>
              </a:defRPr>
            </a:pPr>
            <a:r>
              <a:rPr sz="1875" b="0">
                <a:solidFill>
                  <a:srgbClr val="B4C3D7"/>
                </a:solidFill>
                <a:latin typeface="IBM Plex Sans"/>
                <a:ea typeface="IBM Plex Sans"/>
                <a:cs typeface="IBM Plex Sans"/>
              </a:rPr>
              <a:t>An aspiration to produce visible evidence, not a promise of selection.</a:t>
            </a:r>
          </a:p>
        </p:txBody>
      </p:sp>
      <p:sp>
        <p:nvSpPr>
          <p:cNvPr id="6" name="Brandon Dent, MD   /   BIOM 7109/8109">
            <a:extLst xmlns:a="http://schemas.openxmlformats.org/drawingml/2006/main">
              <a:ext uri="{FF2B5EF4-FFF2-40B4-BE49-F238E27FC236}">
                <a16:creationId xmlns:a16="http://schemas.microsoft.com/office/drawing/2014/main" id="{E6BE3DE5-0774-4FF9-9C7B-9CC9E8CBF92E}"/>
              </a:ext>
            </a:extLst>
          </p:cNvPr>
          <p:cNvSpPr>
            <a:spLocks xmlns:a="http://schemas.openxmlformats.org/drawingml/2006/main" noGrp="1"/>
          </p:cNvSpPr>
          <p:nvPr/>
        </p:nvSpPr>
        <p:spPr>
          <a:xfrm xmlns:a="http://schemas.openxmlformats.org/drawingml/2006/main">
            <a:off x="762000" y="6334125"/>
            <a:ext cx="981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b="0">
                <a:solidFill>
                  <a:srgbClr val="B4C3D7"/>
                </a:solidFill>
                <a:latin typeface="IBM Plex Sans"/>
                <a:ea typeface="IBM Plex Sans"/>
                <a:cs typeface="IBM Plex Sans"/>
              </a:defRPr>
            </a:pPr>
            <a:r>
              <a:rPr sz="1275" b="0">
                <a:solidFill>
                  <a:srgbClr val="B4C3D7"/>
                </a:solidFill>
                <a:latin typeface="IBM Plex Sans"/>
                <a:ea typeface="IBM Plex Sans"/>
                <a:cs typeface="IBM Plex Sans"/>
              </a:rPr>
              <a:t>Brandon Dent, MD   /   BIOM 7109/8109</a:t>
            </a:r>
          </a:p>
        </p:txBody>
      </p:sp>
      <p:sp>
        <p:nvSpPr>
          <p:cNvPr id="7" name="15 / 16">
            <a:extLst xmlns:a="http://schemas.openxmlformats.org/drawingml/2006/main">
              <a:ext uri="{FF2B5EF4-FFF2-40B4-BE49-F238E27FC236}">
                <a16:creationId xmlns:a16="http://schemas.microsoft.com/office/drawing/2014/main" id="{FC2C5093-AD63-45AF-A488-417C07757274}"/>
              </a:ext>
            </a:extLst>
          </p:cNvPr>
          <p:cNvSpPr>
            <a:spLocks xmlns:a="http://schemas.openxmlformats.org/drawingml/2006/main" noGrp="1"/>
          </p:cNvSpPr>
          <p:nvPr/>
        </p:nvSpPr>
        <p:spPr>
          <a:xfrm xmlns:a="http://schemas.openxmlformats.org/drawingml/2006/main">
            <a:off x="10791825" y="6334125"/>
            <a:ext cx="762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b="0">
                <a:solidFill>
                  <a:srgbClr val="B4C3D7"/>
                </a:solidFill>
                <a:latin typeface="IBM Plex Sans"/>
                <a:ea typeface="IBM Plex Sans"/>
                <a:cs typeface="IBM Plex Sans"/>
              </a:defRPr>
            </a:pPr>
            <a:r>
              <a:rPr sz="1275" b="0">
                <a:solidFill>
                  <a:srgbClr val="B4C3D7"/>
                </a:solidFill>
                <a:latin typeface="IBM Plex Sans"/>
                <a:ea typeface="IBM Plex Sans"/>
                <a:cs typeface="IBM Plex Sans"/>
              </a:rPr>
              <a:t>15 / 16</a:t>
            </a:r>
          </a:p>
        </p:txBody>
      </p:sp>
    </p:spTree>
    <p:extLst>
      <p:ext uri="{BB962C8B-B14F-4D97-AF65-F5344CB8AC3E}">
        <p14:creationId xmlns:p14="http://schemas.microsoft.com/office/powerpoint/2010/main" val="1948005809"/>
      </p:ext>
    </p:extLst>
  </p:cSld>
</p:sld>
</file>

<file path=ppt/slides/slide16.xml><?xml version="1.0" encoding="utf-8"?>
<p:sld xmlns:p="http://schemas.openxmlformats.org/presentationml/2006/main">
  <p:cSld>
    <p:bg>
      <p:bgPr>
        <a:solidFill xmlns:a="http://schemas.openxmlformats.org/drawingml/2006/main">
          <a:srgbClr val="F5F3ED"/>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CB20A3DD-E4E9-444D-91F8-7E662C0B757E}"/>
              </a:ext>
            </a:extLst>
          </p:cNvPr>
          <p:cNvSpPr>
            <a:spLocks xmlns:a="http://schemas.openxmlformats.org/drawingml/2006/main" noGrp="1"/>
          </p:cNvSpPr>
          <p:nvPr/>
        </p:nvSpPr>
        <p:spPr>
          <a:xfrm xmlns:a="http://schemas.openxmlformats.org/drawingml/2006/main">
            <a:off x="762000" y="609600"/>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450" b="1">
                <a:solidFill>
                  <a:srgbClr val="16233E"/>
                </a:solidFill>
                <a:latin typeface="IBM Plex Sans"/>
                <a:ea typeface="IBM Plex Sans"/>
                <a:cs typeface="IBM Plex Sans"/>
              </a:defRPr>
            </a:pPr>
            <a:r>
              <a:rPr sz="3450" b="1">
                <a:solidFill>
                  <a:srgbClr val="16233E"/>
                </a:solidFill>
                <a:latin typeface="IBM Plex Sans"/>
                <a:ea typeface="IBM Plex Sans"/>
                <a:cs typeface="IBM Plex Sans"/>
              </a:rPr>
              <a:t>Your next defensible result</a:t>
            </a:r>
          </a:p>
        </p:txBody>
      </p:sp>
      <p:sp>
        <p:nvSpPr>
          <p:cNvPr id="2" name="START HERE">
            <a:extLst xmlns:a="http://schemas.openxmlformats.org/drawingml/2006/main">
              <a:ext uri="{FF2B5EF4-FFF2-40B4-BE49-F238E27FC236}">
                <a16:creationId xmlns:a16="http://schemas.microsoft.com/office/drawing/2014/main" id="{7F50A396-F4E1-4E59-B0F6-7EBBE9CE0B4B}"/>
              </a:ext>
            </a:extLst>
          </p:cNvPr>
          <p:cNvSpPr>
            <a:spLocks xmlns:a="http://schemas.openxmlformats.org/drawingml/2006/main" noGrp="1"/>
          </p:cNvSpPr>
          <p:nvPr/>
        </p:nvSpPr>
        <p:spPr>
          <a:xfrm xmlns:a="http://schemas.openxmlformats.org/drawingml/2006/main">
            <a:off x="762000" y="1724025"/>
            <a:ext cx="1028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87D73"/>
                </a:solidFill>
                <a:latin typeface="IBM Plex Sans"/>
                <a:ea typeface="IBM Plex Sans"/>
                <a:cs typeface="IBM Plex Sans"/>
              </a:defRPr>
            </a:pPr>
            <a:r>
              <a:rPr sz="2175" b="1">
                <a:solidFill>
                  <a:srgbClr val="187D73"/>
                </a:solidFill>
                <a:latin typeface="IBM Plex Sans"/>
                <a:ea typeface="IBM Plex Sans"/>
                <a:cs typeface="IBM Plex Sans"/>
              </a:rPr>
              <a:t>START HERE</a:t>
            </a:r>
          </a:p>
        </p:txBody>
      </p:sp>
      <p:sp>
        <p:nvSpPr>
          <p:cNvPr id="3" name="Reproduce one saved case and write the claim you can de">
            <a:extLst xmlns:a="http://schemas.openxmlformats.org/drawingml/2006/main">
              <a:ext uri="{FF2B5EF4-FFF2-40B4-BE49-F238E27FC236}">
                <a16:creationId xmlns:a16="http://schemas.microsoft.com/office/drawing/2014/main" id="{A4B9D9FA-01CA-4EC7-BD11-332863C53EBD}"/>
              </a:ext>
            </a:extLst>
          </p:cNvPr>
          <p:cNvSpPr>
            <a:spLocks xmlns:a="http://schemas.openxmlformats.org/drawingml/2006/main" noGrp="1"/>
          </p:cNvSpPr>
          <p:nvPr/>
        </p:nvSpPr>
        <p:spPr>
          <a:xfrm xmlns:a="http://schemas.openxmlformats.org/drawingml/2006/main">
            <a:off x="762000" y="2181225"/>
            <a:ext cx="102870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6233E"/>
                </a:solidFill>
                <a:latin typeface="IBM Plex Sans"/>
                <a:ea typeface="IBM Plex Sans"/>
                <a:cs typeface="IBM Plex Sans"/>
              </a:defRPr>
            </a:pPr>
            <a:r>
              <a:rPr sz="2250" b="0">
                <a:solidFill>
                  <a:srgbClr val="16233E"/>
                </a:solidFill>
                <a:latin typeface="IBM Plex Sans"/>
                <a:ea typeface="IBM Plex Sans"/>
                <a:cs typeface="IBM Plex Sans"/>
              </a:rPr>
              <a:t>Reproduce one saved case and write the claim you can defend.</a:t>
            </a:r>
          </a:p>
        </p:txBody>
      </p:sp>
      <p:sp>
        <p:nvSpPr>
          <p:cNvPr id="4" name="OpenEM: inspect a source&#10;LostBench: examine a conversat">
            <a:extLst xmlns:a="http://schemas.openxmlformats.org/drawingml/2006/main">
              <a:ext uri="{FF2B5EF4-FFF2-40B4-BE49-F238E27FC236}">
                <a16:creationId xmlns:a16="http://schemas.microsoft.com/office/drawing/2014/main" id="{6F31AEAE-8263-472A-B3BB-CA5EA661365B}"/>
              </a:ext>
            </a:extLst>
          </p:cNvPr>
          <p:cNvSpPr>
            <a:spLocks xmlns:a="http://schemas.openxmlformats.org/drawingml/2006/main" noGrp="1"/>
          </p:cNvSpPr>
          <p:nvPr/>
        </p:nvSpPr>
        <p:spPr>
          <a:xfrm xmlns:a="http://schemas.openxmlformats.org/drawingml/2006/main">
            <a:off x="762000" y="3209925"/>
            <a:ext cx="76676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6233E"/>
                </a:solidFill>
                <a:latin typeface="IBM Plex Sans"/>
                <a:ea typeface="IBM Plex Sans"/>
                <a:cs typeface="IBM Plex Sans"/>
              </a:defRPr>
            </a:pPr>
            <a:r>
              <a:rPr sz="2250" b="0">
                <a:solidFill>
                  <a:srgbClr val="16233E"/>
                </a:solidFill>
                <a:latin typeface="IBM Plex Sans"/>
                <a:ea typeface="IBM Plex Sans"/>
                <a:cs typeface="IBM Plex Sans"/>
              </a:rPr>
              <a:t>OpenEM: inspect a source</a:t>
            </a:r>
          </a:p>
          <a:p xmlns:a="http://schemas.openxmlformats.org/drawingml/2006/main">
            <a:pPr>
              <a:defRPr sz="2250" b="0">
                <a:solidFill>
                  <a:srgbClr val="16233E"/>
                </a:solidFill>
                <a:latin typeface="IBM Plex Sans"/>
                <a:ea typeface="IBM Plex Sans"/>
                <a:cs typeface="IBM Plex Sans"/>
              </a:defRPr>
            </a:pPr>
            <a:r>
              <a:rPr sz="2250" b="0">
                <a:solidFill>
                  <a:srgbClr val="16233E"/>
                </a:solidFill>
                <a:latin typeface="IBM Plex Sans"/>
                <a:ea typeface="IBM Plex Sans"/>
                <a:cs typeface="IBM Plex Sans"/>
              </a:rPr>
              <a:t>LostBench: examine a conversation</a:t>
            </a:r>
          </a:p>
          <a:p xmlns:a="http://schemas.openxmlformats.org/drawingml/2006/main">
            <a:pPr>
              <a:defRPr sz="2250" b="0">
                <a:solidFill>
                  <a:srgbClr val="16233E"/>
                </a:solidFill>
                <a:latin typeface="IBM Plex Sans"/>
                <a:ea typeface="IBM Plex Sans"/>
                <a:cs typeface="IBM Plex Sans"/>
              </a:defRPr>
            </a:pPr>
            <a:r>
              <a:rPr sz="2250" b="0">
                <a:solidFill>
                  <a:srgbClr val="16233E"/>
                </a:solidFill>
                <a:latin typeface="IBM Plex Sans"/>
                <a:ea typeface="IBM Plex Sans"/>
                <a:cs typeface="IBM Plex Sans"/>
              </a:rPr>
              <a:t>HealthCraft: trace a tool action and its check</a:t>
            </a:r>
          </a:p>
        </p:txBody>
      </p:sp>
      <p:sp>
        <p:nvSpPr>
          <p:cNvPr id="5" name="Student guide + saved cases">
            <a:extLst xmlns:a="http://schemas.openxmlformats.org/drawingml/2006/main">
              <a:ext uri="{FF2B5EF4-FFF2-40B4-BE49-F238E27FC236}">
                <a16:creationId xmlns:a16="http://schemas.microsoft.com/office/drawing/2014/main" id="{3EA45685-8ECE-42CD-8314-9989E2893F9F}"/>
              </a:ext>
            </a:extLst>
          </p:cNvPr>
          <p:cNvSpPr>
            <a:spLocks xmlns:a="http://schemas.openxmlformats.org/drawingml/2006/main" noGrp="1"/>
          </p:cNvSpPr>
          <p:nvPr/>
        </p:nvSpPr>
        <p:spPr>
          <a:xfrm xmlns:a="http://schemas.openxmlformats.org/drawingml/2006/main">
            <a:off x="8743950" y="2876550"/>
            <a:ext cx="2838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187D73"/>
                </a:solidFill>
                <a:latin typeface="IBM Plex Sans"/>
                <a:ea typeface="IBM Plex Sans"/>
                <a:cs typeface="IBM Plex Sans"/>
              </a:defRPr>
            </a:pPr>
            <a:r>
              <a:rPr sz="1500" b="1">
                <a:solidFill>
                  <a:srgbClr val="187D73"/>
                </a:solidFill>
                <a:latin typeface="IBM Plex Sans"/>
                <a:ea typeface="IBM Plex Sans"/>
                <a:cs typeface="IBM Plex Sans"/>
              </a:rPr>
              <a:t>Student guide + saved cases</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a859e527de4e4570">
            <a:extLst>
              <a:ext uri="{96DAC541-7B7A-43D3-8B79-37D633B846F1}">
                <asvg:svgBlip xmlns:asvg="http://schemas.microsoft.com/office/drawing/2016/SVG/main" r:embed="R2d563037aefa4932"/>
              </a:ext>
            </a:extLst>
          </a:blip>
          <a:stretch xmlns:a="http://schemas.openxmlformats.org/drawingml/2006/main"/>
        </p:blipFill>
        <p:spPr>
          <a:xfrm xmlns:a="http://schemas.openxmlformats.org/drawingml/2006/main">
            <a:off x="8943975" y="3171825"/>
            <a:ext cx="2095500" cy="2095500"/>
          </a:xfrm>
          <a:prstGeom xmlns:a="http://schemas.openxmlformats.org/drawingml/2006/main" prst="rect">
            <a:avLst/>
          </a:prstGeom>
        </p:spPr>
      </p:pic>
      <p:sp>
        <p:nvSpPr>
          <p:cNvPr id="7" name="What is your next small test? What oversized gain could">
            <a:extLst xmlns:a="http://schemas.openxmlformats.org/drawingml/2006/main">
              <a:ext uri="{FF2B5EF4-FFF2-40B4-BE49-F238E27FC236}">
                <a16:creationId xmlns:a16="http://schemas.microsoft.com/office/drawing/2014/main" id="{AACB1937-7507-4E43-9345-2FA35A7A52F5}"/>
              </a:ext>
            </a:extLst>
          </p:cNvPr>
          <p:cNvSpPr>
            <a:spLocks xmlns:a="http://schemas.openxmlformats.org/drawingml/2006/main" noGrp="1"/>
          </p:cNvSpPr>
          <p:nvPr/>
        </p:nvSpPr>
        <p:spPr>
          <a:xfrm xmlns:a="http://schemas.openxmlformats.org/drawingml/2006/main">
            <a:off x="762000" y="5362575"/>
            <a:ext cx="10572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187D73"/>
                </a:solidFill>
                <a:latin typeface="IBM Plex Sans"/>
                <a:ea typeface="IBM Plex Sans"/>
                <a:cs typeface="IBM Plex Sans"/>
              </a:defRPr>
            </a:pPr>
            <a:r>
              <a:rPr sz="2400" b="1">
                <a:solidFill>
                  <a:srgbClr val="187D73"/>
                </a:solidFill>
                <a:latin typeface="IBM Plex Sans"/>
                <a:ea typeface="IBM Plex Sans"/>
                <a:cs typeface="IBM Plex Sans"/>
              </a:rPr>
              <a:t>What is your next small test? What oversized gain could it unlock?</a:t>
            </a:r>
          </a:p>
        </p:txBody>
      </p:sp>
      <p:sp>
        <p:nvSpPr>
          <p:cNvPr id="8" name="Brandon Dent, MD   /   BIOM 7109/8109">
            <a:extLst xmlns:a="http://schemas.openxmlformats.org/drawingml/2006/main">
              <a:ext uri="{FF2B5EF4-FFF2-40B4-BE49-F238E27FC236}">
                <a16:creationId xmlns:a16="http://schemas.microsoft.com/office/drawing/2014/main" id="{706F05E3-319C-475F-8D4C-6359EF41011A}"/>
              </a:ext>
            </a:extLst>
          </p:cNvPr>
          <p:cNvSpPr>
            <a:spLocks xmlns:a="http://schemas.openxmlformats.org/drawingml/2006/main" noGrp="1"/>
          </p:cNvSpPr>
          <p:nvPr/>
        </p:nvSpPr>
        <p:spPr>
          <a:xfrm xmlns:a="http://schemas.openxmlformats.org/drawingml/2006/main">
            <a:off x="762000" y="6334125"/>
            <a:ext cx="981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b="0">
                <a:solidFill>
                  <a:srgbClr val="596475"/>
                </a:solidFill>
                <a:latin typeface="IBM Plex Sans"/>
                <a:ea typeface="IBM Plex Sans"/>
                <a:cs typeface="IBM Plex Sans"/>
              </a:defRPr>
            </a:pPr>
            <a:r>
              <a:rPr sz="1275" b="0">
                <a:solidFill>
                  <a:srgbClr val="596475"/>
                </a:solidFill>
                <a:latin typeface="IBM Plex Sans"/>
                <a:ea typeface="IBM Plex Sans"/>
                <a:cs typeface="IBM Plex Sans"/>
              </a:rPr>
              <a:t>Brandon Dent, MD   /   BIOM 7109/8109</a:t>
            </a:r>
          </a:p>
        </p:txBody>
      </p:sp>
      <p:sp>
        <p:nvSpPr>
          <p:cNvPr id="9" name="16 / 16">
            <a:extLst xmlns:a="http://schemas.openxmlformats.org/drawingml/2006/main">
              <a:ext uri="{FF2B5EF4-FFF2-40B4-BE49-F238E27FC236}">
                <a16:creationId xmlns:a16="http://schemas.microsoft.com/office/drawing/2014/main" id="{D72E1C8D-0EB9-4EC2-AD41-D4EFF178499D}"/>
              </a:ext>
            </a:extLst>
          </p:cNvPr>
          <p:cNvSpPr>
            <a:spLocks xmlns:a="http://schemas.openxmlformats.org/drawingml/2006/main" noGrp="1"/>
          </p:cNvSpPr>
          <p:nvPr/>
        </p:nvSpPr>
        <p:spPr>
          <a:xfrm xmlns:a="http://schemas.openxmlformats.org/drawingml/2006/main">
            <a:off x="10791825" y="6334125"/>
            <a:ext cx="762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b="0">
                <a:solidFill>
                  <a:srgbClr val="596475"/>
                </a:solidFill>
                <a:latin typeface="IBM Plex Sans"/>
                <a:ea typeface="IBM Plex Sans"/>
                <a:cs typeface="IBM Plex Sans"/>
              </a:defRPr>
            </a:pPr>
            <a:r>
              <a:rPr sz="1275" b="0">
                <a:solidFill>
                  <a:srgbClr val="596475"/>
                </a:solidFill>
                <a:latin typeface="IBM Plex Sans"/>
                <a:ea typeface="IBM Plex Sans"/>
                <a:cs typeface="IBM Plex Sans"/>
              </a:rPr>
              <a:t>16 / 16</a:t>
            </a:r>
          </a:p>
        </p:txBody>
      </p:sp>
    </p:spTree>
    <p:extLst>
      <p:ext uri="{BB962C8B-B14F-4D97-AF65-F5344CB8AC3E}">
        <p14:creationId xmlns:p14="http://schemas.microsoft.com/office/powerpoint/2010/main" val="1267174729"/>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2026-09-28T15:16:35.5090000Z</dcterms:created>
  <dcterms:modified xsi:type="dcterms:W3CDTF">2026-09-28T15:16:35.5090000Z</dcterms:modified>
</coreProperties>
</file>